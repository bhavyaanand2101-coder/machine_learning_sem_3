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and peers. I am Bhavya Anand, roll number 2501730046, a 3rd-semester B.Des student specializing in UI/UX Design at K.R. Mangalam University. Today, I am presenting my research on two foundational principles of modern visual and interactive design: Superimposition and Anthropomorphization. As UI/UX designers, we constantly struggle with flat interfaces feeling lifeless or overwhelming. Today, we will unpack how layering spatial depth and injecting human emotional empathy create natural, delightful products.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studio roadmap. I have organized this presentation into four core modules. First, we examine Superimposition—the spatial dimension that controls where information lives. Second, Anthropomorphism—the emotional dimension that governs how systems behave and connect. Third, we explore the exciting intersection in spatial computing and modern UI. Finally, I will share the Heuristic Studio Framework I developed to guide our everyday design decisions.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examine the theoretical roots of Superimposition. In graphic design history, Moholy-Nagy and the Bauhaus pioneers used photomontage to combine disparate planes into one narrative. In cognitive psychology, Edgar Rubin proved that our brains instantly separate figure from ground. Occlusion—one object partially hiding another—is the strongest monocular depth cue humans possess. In UI/UX, we harness this cue to keep users situated in their workflow while presenting secondary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our custom Z-stack diagram on the left. In digital architecture, superimposition is quantified through the Z-axis. From background canvas, to content cards, floating buttons, modal scrims, and spatial AR reticles. On the right, we break down how glassmorphism in iOS and macOS maintains spatial continuity without tearing the user away from their context. But as designers, we must watch out for the 'Layer Cake' trap: when too many layers overlap, contrast collapses and users become disoriented.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explore Anthropomorphism. Why do we treat our phones, cars, and software like they have thoughts and feelings? Because of pareidolia and our evolutionary Fusiform Face Area. Clifford Nass and Byron Reeves proved in 'The Media Equation' that humans unconsciously treat digital interfaces according to social rules. If an app is polite, we like it; if an app is rude or cold, we reject it. As UI/UX designers, we can leverage this to reduce technophobia and dramatically increase user forgiveness during system errors.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Don Norman's famous Emotional Design triad applied directly to interface anthropomorphism. At the Visceral level, rounded organic corners and soft palettes trigger subconscious safety signals. At the Behavioral level, organic easing curves—like spring physics and breathing loaders—make the interface feel organically alive. At the Reflective level, brand personality creates long-term user attachment. A great UI/UX designer designs across all three levels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look at the classic Tom character on the left. In animation and design, giving an animal human postures and social context creates instant empathy. On the right, we examine how this translates into UI. It's not just drawing a cartoon; it's in the physics of our animations. When an element stretches like rubber or an owl mascot covers its eyes when you type a password, we are injecting biological playfulness into dry digital workflows.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UX student must understand the Uncanny Valley curve shown on the left. In 1970, Masahiro Mori discovered that when an entity looks almost human, but has a 1% imperfection—like dead eyes or unnatural blinking—our brain classifies it as a diseased corpse or threat, causing revulsion. That's why hyper-realistic 3D AI bank tellers fail. Honest stylization—like Duolingo or Pixar—bypasses this trap entirely. Our takeaway: never try to fake human biology; use clean, expressive abstraction.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arrive at the nexus where both principles collide. On the left, look at how superimposing humanoid figures onto a mountain terrain immediately transforms cold rock into an emotional, spiritual presence. In digital design, this is Spatial Empathy. Apple VisionOS uses Spatial Personas to project your friend's volumetric avatar directly onto the carpet of your living room. It's the ultimate marriage of Z-depth superimposition and human micro-expression.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ground our research in rigorous UI/UX methodology, I built this comparative heuristic matrix. Look at how Duolingo pairs a floating lock-screen widget with an urgent mascot persona, driving an 18% lift in retention. Meanwhile, Apple's Dynamic Island uses organic elastic physics to make a hardware sensor cutout feel like a responsive living organ. Each technique comes with real trade-offs—such as visual distraction or emotional fatigue—which we must balance as designers.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designers, we cannot ignore ethics. Anthropomorphism becomes toxic when it turns into 'Deceptive Empathy'—like a streaming app showing a crying cartoon to guilt you out of unsubscribing. That is manipulative confirmshaming. Similarly, over-superimposition destroys accessibility for users with visual impairments. In our studio work, our manifesto must be clear: humanize to assist, never to manipulate; layer to clarify, never to obscure.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I created this 5-point studio framework for our UI/UX design projects. Before presenting any prototype in our jury or critique, we can audit it: Did we justify the Z-axis? Did we stay out of the Uncanny Valley? Are our physics organic? Is our contrast accessible? And do we respect user autonomy? This gives us a concrete design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Space and Soul. Superimposition choreographs spatial depth and mental models, while Anthropomorphism choreographs relational warmth and empathy. I have cited foundational literature here from Don Norman, Masahiro Mori, and Edgar Rubin. Thank you so much for your time and attention. I am eager to hear your feedback, critique, and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5669280" cy="329184"/>
          </a:xfrm>
          <a:prstGeom prst="roundRect">
            <a:avLst/>
          </a:prstGeom>
          <a:solidFill>
            <a:srgbClr val="212C3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l">
              <a:defRPr sz="950" b="1">
                <a:solidFill>
                  <a:srgbClr val="38BDF8"/>
                </a:solidFill>
              </a:defRPr>
            </a:pPr>
            <a:r>
              <a:t>  K.R. MANGALAM UNIVERSITY • SCHOOL OF DESIGN &amp; INNOVATION</a:t>
            </a:r>
          </a:p>
        </p:txBody>
      </p:sp>
      <p:sp>
        <p:nvSpPr>
          <p:cNvPr id="4" name="TextBox 3"/>
          <p:cNvSpPr txBox="1"/>
          <p:nvPr/>
        </p:nvSpPr>
        <p:spPr>
          <a:xfrm>
            <a:off x="731520" y="1097280"/>
            <a:ext cx="6217920" cy="2011680"/>
          </a:xfrm>
          <a:prstGeom prst="rect">
            <a:avLst/>
          </a:prstGeom>
          <a:noFill/>
        </p:spPr>
        <p:txBody>
          <a:bodyPr wrap="square" lIns="0" tIns="0" rIns="0" bIns="0">
            <a:spAutoFit/>
          </a:bodyPr>
          <a:lstStyle/>
          <a:p>
            <a:pPr>
              <a:defRPr sz="2800" b="1">
                <a:solidFill>
                  <a:srgbClr val="F8FAFC"/>
                </a:solidFill>
                <a:latin typeface="Arial"/>
              </a:defRPr>
            </a:pPr>
            <a:r>
              <a:t>SUPERIMPOSITION &amp;</a:t>
            </a:r>
            <a:br/>
            <a:r>
              <a:t>ANTHROPOMORPHIZATION</a:t>
            </a:r>
            <a:br/>
            <a:r>
              <a:t>IN DESIGN</a:t>
            </a:r>
          </a:p>
          <a:p>
            <a:br/>
            <a:pPr>
              <a:defRPr sz="1300">
                <a:solidFill>
                  <a:srgbClr val="2DD4BF"/>
                </a:solidFill>
                <a:latin typeface="Arial"/>
              </a:defRPr>
            </a:pPr>
            <a:r>
              <a:t>Visual Layering, Emotional Affordances &amp; Cognitive Semiotics in Modern UI/UX</a:t>
            </a:r>
          </a:p>
        </p:txBody>
      </p:sp>
      <p:sp>
        <p:nvSpPr>
          <p:cNvPr id="5" name="Rounded Rectangle 4"/>
          <p:cNvSpPr/>
          <p:nvPr/>
        </p:nvSpPr>
        <p:spPr>
          <a:xfrm>
            <a:off x="731520" y="3566160"/>
            <a:ext cx="6217920" cy="256032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749039"/>
            <a:ext cx="5669280" cy="2194560"/>
          </a:xfrm>
          <a:prstGeom prst="rect">
            <a:avLst/>
          </a:prstGeom>
          <a:noFill/>
        </p:spPr>
        <p:txBody>
          <a:bodyPr wrap="square" lIns="0" tIns="0" rIns="0" bIns="0">
            <a:spAutoFit/>
          </a:bodyPr>
          <a:lstStyle/>
          <a:p>
            <a:pPr>
              <a:defRPr sz="1000" b="1">
                <a:solidFill>
                  <a:srgbClr val="A855F7"/>
                </a:solidFill>
              </a:defRPr>
            </a:pPr>
            <a:r>
              <a:t>STUDIO RESEARCH THESIS</a:t>
            </a:r>
          </a:p>
          <a:p>
            <a:pPr>
              <a:defRPr sz="1050">
                <a:solidFill>
                  <a:srgbClr val="94A3B8"/>
                </a:solidFill>
              </a:defRPr>
            </a:pPr>
            <a:r>
              <a:t>How do digital interfaces transcend flat screens? By orchestrating visual depth through superimposition (where things exist in space) and emotional resonance through anthropomorphism (how things interact and empathize).</a:t>
            </a:r>
            <a:br/>
            <a:br/>
            <a:r>
              <a:t>Key Focus Areas:</a:t>
            </a:r>
          </a:p>
          <a:p>
            <a:pPr>
              <a:defRPr sz="1000">
                <a:solidFill>
                  <a:srgbClr val="F8FAFC"/>
                </a:solidFill>
              </a:defRPr>
            </a:pPr>
            <a:r>
              <a:t>• Gestalt Figure-Ground &amp; Spatial Z-Stack Architecture</a:t>
            </a:r>
          </a:p>
          <a:p>
            <a:pPr>
              <a:defRPr sz="1000">
                <a:solidFill>
                  <a:srgbClr val="F8FAFC"/>
                </a:solidFill>
              </a:defRPr>
            </a:pPr>
            <a:r>
              <a:t>• Don Norman's 3 Levels of Emotional Design &amp; Masahiro Mori's Uncanny Valley</a:t>
            </a:r>
          </a:p>
          <a:p>
            <a:pPr>
              <a:defRPr sz="1000">
                <a:solidFill>
                  <a:srgbClr val="F8FAFC"/>
                </a:solidFill>
              </a:defRPr>
            </a:pPr>
            <a:r>
              <a:t>• Spatial Computing (VisionOS), Dynamic Island &amp; Mascot Micro-interactions</a:t>
            </a:r>
          </a:p>
        </p:txBody>
      </p:sp>
      <p:sp>
        <p:nvSpPr>
          <p:cNvPr id="7" name="Rounded Rectangle 6"/>
          <p:cNvSpPr/>
          <p:nvPr/>
        </p:nvSpPr>
        <p:spPr>
          <a:xfrm>
            <a:off x="7315200" y="731520"/>
            <a:ext cx="4114800" cy="5394960"/>
          </a:xfrm>
          <a:prstGeom prst="roundRect">
            <a:avLst/>
          </a:prstGeom>
          <a:solidFill>
            <a:srgbClr val="18202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0" y="731520"/>
            <a:ext cx="4114800" cy="731520"/>
          </a:xfrm>
          <a:prstGeom prst="rect">
            <a:avLst/>
          </a:prstGeom>
          <a:solidFill>
            <a:srgbClr val="212C3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STUDENT CREDENTIAL CARD</a:t>
            </a:r>
          </a:p>
          <a:p>
            <a:pPr algn="ctr">
              <a:defRPr sz="850">
                <a:solidFill>
                  <a:srgbClr val="94A3B8"/>
                </a:solidFill>
              </a:defRPr>
            </a:pPr>
            <a:r>
              <a:t>B.Des (UI &amp; UX Design) • Academic Year 2025–2029</a:t>
            </a:r>
          </a:p>
        </p:txBody>
      </p:sp>
      <p:pic>
        <p:nvPicPr>
          <p:cNvPr id="9" name="Picture 8" descr="bhavya_photo.jpeg"/>
          <p:cNvPicPr>
            <a:picLocks noChangeAspect="1"/>
          </p:cNvPicPr>
          <p:nvPr/>
        </p:nvPicPr>
        <p:blipFill>
          <a:blip r:embed="rId2"/>
          <a:stretch>
            <a:fillRect/>
          </a:stretch>
        </p:blipFill>
        <p:spPr>
          <a:xfrm>
            <a:off x="7589520" y="1645920"/>
            <a:ext cx="1188720" cy="1508760"/>
          </a:xfrm>
          <a:prstGeom prst="rect">
            <a:avLst/>
          </a:prstGeom>
        </p:spPr>
      </p:pic>
      <p:sp>
        <p:nvSpPr>
          <p:cNvPr id="10" name="TextBox 9"/>
          <p:cNvSpPr txBox="1"/>
          <p:nvPr/>
        </p:nvSpPr>
        <p:spPr>
          <a:xfrm>
            <a:off x="8961120" y="1645920"/>
            <a:ext cx="2286000" cy="1554480"/>
          </a:xfrm>
          <a:prstGeom prst="rect">
            <a:avLst/>
          </a:prstGeom>
          <a:noFill/>
        </p:spPr>
        <p:txBody>
          <a:bodyPr wrap="square" lIns="0" tIns="0" rIns="0" bIns="0">
            <a:spAutoFit/>
          </a:bodyPr>
          <a:lstStyle/>
          <a:p>
            <a:pPr>
              <a:defRPr sz="900" b="1">
                <a:solidFill>
                  <a:srgbClr val="94A3B8"/>
                </a:solidFill>
              </a:defRPr>
            </a:pPr>
            <a:r>
              <a:t>NAME: </a:t>
            </a:r>
            <a:r>
              <a:rPr b="1">
                <a:solidFill>
                  <a:srgbClr val="2DD4BF"/>
                </a:solidFill>
              </a:rPr>
              <a:t>Bhavya Anand</a:t>
            </a:r>
          </a:p>
          <a:p>
            <a:pPr>
              <a:defRPr sz="900" b="1">
                <a:solidFill>
                  <a:srgbClr val="94A3B8"/>
                </a:solidFill>
              </a:defRPr>
            </a:pPr>
            <a:r>
              <a:t>ROLL NO: </a:t>
            </a:r>
            <a:r>
              <a:rPr b="1">
                <a:solidFill>
                  <a:srgbClr val="F59E0B"/>
                </a:solidFill>
              </a:rPr>
              <a:t>2501730046</a:t>
            </a:r>
          </a:p>
          <a:p>
            <a:pPr>
              <a:defRPr sz="900" b="1">
                <a:solidFill>
                  <a:srgbClr val="94A3B8"/>
                </a:solidFill>
              </a:defRPr>
            </a:pPr>
            <a:r>
              <a:t>SEMESTER: </a:t>
            </a:r>
            <a:r>
              <a:rPr b="0">
                <a:solidFill>
                  <a:srgbClr val="F8FAFC"/>
                </a:solidFill>
              </a:rPr>
              <a:t>Semester III (Sec E)</a:t>
            </a:r>
          </a:p>
          <a:p>
            <a:pPr>
              <a:defRPr sz="900" b="1">
                <a:solidFill>
                  <a:srgbClr val="94A3B8"/>
                </a:solidFill>
              </a:defRPr>
            </a:pPr>
            <a:r>
              <a:t>PROGRAM: </a:t>
            </a:r>
            <a:r>
              <a:rPr b="0">
                <a:solidFill>
                  <a:srgbClr val="F8FAFC"/>
                </a:solidFill>
              </a:rPr>
              <a:t>B.Des (UI/UX)</a:t>
            </a:r>
          </a:p>
        </p:txBody>
      </p:sp>
      <p:sp>
        <p:nvSpPr>
          <p:cNvPr id="11" name="TextBox 10"/>
          <p:cNvSpPr txBox="1"/>
          <p:nvPr/>
        </p:nvSpPr>
        <p:spPr>
          <a:xfrm>
            <a:off x="7589520" y="3291840"/>
            <a:ext cx="3566160" cy="2560320"/>
          </a:xfrm>
          <a:prstGeom prst="rect">
            <a:avLst/>
          </a:prstGeom>
          <a:noFill/>
        </p:spPr>
        <p:txBody>
          <a:bodyPr wrap="square" lIns="0" tIns="0" rIns="0" bIns="0">
            <a:spAutoFit/>
          </a:bodyPr>
          <a:lstStyle/>
          <a:p>
            <a:pPr>
              <a:defRPr sz="900" b="1">
                <a:solidFill>
                  <a:srgbClr val="94A3B8"/>
                </a:solidFill>
              </a:defRPr>
            </a:pPr>
            <a:r>
              <a:t>INSTITUTION: </a:t>
            </a:r>
            <a:r>
              <a:rPr b="0">
                <a:solidFill>
                  <a:srgbClr val="F8FAFC"/>
                </a:solidFill>
              </a:rPr>
              <a:t>K.R. Mangalam University, Gurugram</a:t>
            </a:r>
          </a:p>
          <a:p>
            <a:pPr>
              <a:defRPr sz="900" b="1">
                <a:solidFill>
                  <a:srgbClr val="94A3B8"/>
                </a:solidFill>
              </a:defRPr>
            </a:pPr>
            <a:r>
              <a:t>DEPARTMENT: </a:t>
            </a:r>
            <a:r>
              <a:rPr b="0">
                <a:solidFill>
                  <a:srgbClr val="F8FAFC"/>
                </a:solidFill>
              </a:rPr>
              <a:t>School of Design &amp; Innovation</a:t>
            </a:r>
          </a:p>
          <a:p>
            <a:pPr>
              <a:defRPr sz="900" b="1">
                <a:solidFill>
                  <a:srgbClr val="94A3B8"/>
                </a:solidFill>
              </a:defRPr>
            </a:pPr>
            <a:r>
              <a:t>SUBJECT: </a:t>
            </a:r>
            <a:r>
              <a:rPr b="0">
                <a:solidFill>
                  <a:srgbClr val="F8FAFC"/>
                </a:solidFill>
              </a:rPr>
              <a:t>Visual Design Systems &amp; Cognitive HCI</a:t>
            </a:r>
          </a:p>
          <a:p>
            <a:pPr>
              <a:defRPr sz="900" b="1">
                <a:solidFill>
                  <a:srgbClr val="94A3B8"/>
                </a:solidFill>
              </a:defRPr>
            </a:pPr>
            <a:r>
              <a:t>SUBMISSION DATE: </a:t>
            </a:r>
            <a:r>
              <a:rPr b="0">
                <a:solidFill>
                  <a:srgbClr val="F8FAFC"/>
                </a:solidFill>
              </a:rPr>
              <a:t>September 2026</a:t>
            </a:r>
          </a:p>
          <a:p>
            <a:pPr>
              <a:defRPr sz="900" b="1">
                <a:solidFill>
                  <a:srgbClr val="94A3B8"/>
                </a:solidFill>
              </a:defRPr>
            </a:pPr>
            <a:r>
              <a:t>CONTACT: </a:t>
            </a:r>
            <a:r>
              <a:rPr b="0">
                <a:solidFill>
                  <a:srgbClr val="F8FAFC"/>
                </a:solidFill>
              </a:rPr>
              <a:t>bhavya.bpr@gmail.com</a:t>
            </a:r>
          </a:p>
          <a:p>
            <a:br/>
            <a:pPr>
              <a:defRPr sz="850" b="1">
                <a:solidFill>
                  <a:srgbClr val="10B981"/>
                </a:solidFill>
              </a:defRPr>
            </a:pPr>
            <a:r>
              <a:t>STATUS: VERIFIED STUDENT WORK FOR JURY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DESIGN ROADMAP &amp; AGENDA</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The Architectural Blueprint: Space vs. Soul</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Deconstructing how spatial layering and emotional projection unite in human-computer interaction</a:t>
            </a:r>
          </a:p>
        </p:txBody>
      </p:sp>
      <p:sp>
        <p:nvSpPr>
          <p:cNvPr id="6" name="Rounded Rectangle 5"/>
          <p:cNvSpPr/>
          <p:nvPr/>
        </p:nvSpPr>
        <p:spPr>
          <a:xfrm>
            <a:off x="731520" y="1645920"/>
            <a:ext cx="5212080" cy="2194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74520"/>
            <a:ext cx="4663440" cy="1737360"/>
          </a:xfrm>
          <a:prstGeom prst="rect">
            <a:avLst/>
          </a:prstGeom>
          <a:noFill/>
        </p:spPr>
        <p:txBody>
          <a:bodyPr wrap="square" lIns="0" tIns="0" rIns="0" bIns="0">
            <a:spAutoFit/>
          </a:bodyPr>
          <a:lstStyle/>
          <a:p>
            <a:pPr>
              <a:defRPr sz="1100" b="1">
                <a:solidFill>
                  <a:srgbClr val="38BDF8"/>
                </a:solidFill>
              </a:defRPr>
            </a:pPr>
            <a:r>
              <a:t>PART 01: SUPERIMPOSITION</a:t>
            </a:r>
          </a:p>
          <a:p>
            <a:pPr>
              <a:defRPr sz="1300" b="1">
                <a:solidFill>
                  <a:srgbClr val="F8FAFC"/>
                </a:solidFill>
              </a:defRPr>
            </a:pPr>
            <a:r>
              <a:t>The Spatial Dimension</a:t>
            </a:r>
          </a:p>
          <a:p>
            <a:pPr>
              <a:defRPr sz="950">
                <a:solidFill>
                  <a:srgbClr val="94A3B8"/>
                </a:solidFill>
              </a:defRPr>
            </a:pPr>
            <a:r>
              <a:t>• Historical roots: Bauhaus photomontage to Swiss typography</a:t>
            </a:r>
          </a:p>
          <a:p>
            <a:pPr>
              <a:defRPr sz="950">
                <a:solidFill>
                  <a:srgbClr val="94A3B8"/>
                </a:solidFill>
              </a:defRPr>
            </a:pPr>
            <a:r>
              <a:t>• Cognitive mechanism: Gestalt Figure-Ground &amp; Occlusion</a:t>
            </a:r>
          </a:p>
          <a:p>
            <a:pPr>
              <a:defRPr sz="950">
                <a:solidFill>
                  <a:srgbClr val="94A3B8"/>
                </a:solidFill>
              </a:defRPr>
            </a:pPr>
            <a:r>
              <a:t>• UI/UX stack: Z-index, Glassmorphism, and Spatial HUDs</a:t>
            </a:r>
          </a:p>
        </p:txBody>
      </p:sp>
      <p:sp>
        <p:nvSpPr>
          <p:cNvPr id="8" name="Rounded Rectangle 7"/>
          <p:cNvSpPr/>
          <p:nvPr/>
        </p:nvSpPr>
        <p:spPr>
          <a:xfrm>
            <a:off x="6217920" y="1645920"/>
            <a:ext cx="5212080" cy="2194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74520"/>
            <a:ext cx="4663440" cy="1737360"/>
          </a:xfrm>
          <a:prstGeom prst="rect">
            <a:avLst/>
          </a:prstGeom>
          <a:noFill/>
        </p:spPr>
        <p:txBody>
          <a:bodyPr wrap="square" lIns="0" tIns="0" rIns="0" bIns="0">
            <a:spAutoFit/>
          </a:bodyPr>
          <a:lstStyle/>
          <a:p>
            <a:pPr>
              <a:defRPr sz="1100" b="1">
                <a:solidFill>
                  <a:srgbClr val="A855F7"/>
                </a:solidFill>
              </a:defRPr>
            </a:pPr>
            <a:r>
              <a:t>PART 02: ANTHROPOMORPHISM</a:t>
            </a:r>
          </a:p>
          <a:p>
            <a:pPr>
              <a:defRPr sz="1300" b="1">
                <a:solidFill>
                  <a:srgbClr val="F8FAFC"/>
                </a:solidFill>
              </a:defRPr>
            </a:pPr>
            <a:r>
              <a:t>The Emotional Dimension</a:t>
            </a:r>
          </a:p>
          <a:p>
            <a:pPr>
              <a:defRPr sz="950">
                <a:solidFill>
                  <a:srgbClr val="94A3B8"/>
                </a:solidFill>
              </a:defRPr>
            </a:pPr>
            <a:r>
              <a:t>• Psychological roots: Pareidolia and human mental models</a:t>
            </a:r>
          </a:p>
          <a:p>
            <a:pPr>
              <a:defRPr sz="950">
                <a:solidFill>
                  <a:srgbClr val="94A3B8"/>
                </a:solidFill>
              </a:defRPr>
            </a:pPr>
            <a:r>
              <a:t>• Don Norman's 3 levels: Visceral, Behavioral, Reflective</a:t>
            </a:r>
          </a:p>
          <a:p>
            <a:pPr>
              <a:defRPr sz="950">
                <a:solidFill>
                  <a:srgbClr val="94A3B8"/>
                </a:solidFill>
              </a:defRPr>
            </a:pPr>
            <a:r>
              <a:t>• Touchpoints: Micro-physics, voice interfaces &amp; mascots</a:t>
            </a:r>
          </a:p>
        </p:txBody>
      </p:sp>
      <p:sp>
        <p:nvSpPr>
          <p:cNvPr id="10" name="Rounded Rectangle 9"/>
          <p:cNvSpPr/>
          <p:nvPr/>
        </p:nvSpPr>
        <p:spPr>
          <a:xfrm>
            <a:off x="731520" y="4023360"/>
            <a:ext cx="5212080" cy="2194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51960"/>
            <a:ext cx="4663440" cy="1737360"/>
          </a:xfrm>
          <a:prstGeom prst="rect">
            <a:avLst/>
          </a:prstGeom>
          <a:noFill/>
        </p:spPr>
        <p:txBody>
          <a:bodyPr wrap="square" lIns="0" tIns="0" rIns="0" bIns="0">
            <a:spAutoFit/>
          </a:bodyPr>
          <a:lstStyle/>
          <a:p>
            <a:pPr>
              <a:defRPr sz="1100" b="1">
                <a:solidFill>
                  <a:srgbClr val="2DD4BF"/>
                </a:solidFill>
              </a:defRPr>
            </a:pPr>
            <a:r>
              <a:t>PART 03: THE CONVERGENCE</a:t>
            </a:r>
          </a:p>
          <a:p>
            <a:pPr>
              <a:defRPr sz="1300" b="1">
                <a:solidFill>
                  <a:srgbClr val="F8FAFC"/>
                </a:solidFill>
              </a:defRPr>
            </a:pPr>
            <a:r>
              <a:t>Where Layers Meet Agents</a:t>
            </a:r>
          </a:p>
          <a:p>
            <a:pPr>
              <a:defRPr sz="950">
                <a:solidFill>
                  <a:srgbClr val="94A3B8"/>
                </a:solidFill>
              </a:defRPr>
            </a:pPr>
            <a:r>
              <a:t>• Spatial Empathy: Overlaying humanized agents in 3D</a:t>
            </a:r>
          </a:p>
          <a:p>
            <a:pPr>
              <a:defRPr sz="950">
                <a:solidFill>
                  <a:srgbClr val="94A3B8"/>
                </a:solidFill>
              </a:defRPr>
            </a:pPr>
            <a:r>
              <a:t>• Mixed Reality case study: Apple VisionOS Personas</a:t>
            </a:r>
          </a:p>
          <a:p>
            <a:pPr>
              <a:defRPr sz="950">
                <a:solidFill>
                  <a:srgbClr val="94A3B8"/>
                </a:solidFill>
              </a:defRPr>
            </a:pPr>
            <a:r>
              <a:t>• Everyday UI: Dynamic Island &amp; mascot notification feeds</a:t>
            </a:r>
          </a:p>
        </p:txBody>
      </p:sp>
      <p:sp>
        <p:nvSpPr>
          <p:cNvPr id="12" name="Rounded Rectangle 11"/>
          <p:cNvSpPr/>
          <p:nvPr/>
        </p:nvSpPr>
        <p:spPr>
          <a:xfrm>
            <a:off x="6217920" y="4023360"/>
            <a:ext cx="5212080" cy="2194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251960"/>
            <a:ext cx="4663440" cy="1737360"/>
          </a:xfrm>
          <a:prstGeom prst="rect">
            <a:avLst/>
          </a:prstGeom>
          <a:noFill/>
        </p:spPr>
        <p:txBody>
          <a:bodyPr wrap="square" lIns="0" tIns="0" rIns="0" bIns="0">
            <a:spAutoFit/>
          </a:bodyPr>
          <a:lstStyle/>
          <a:p>
            <a:pPr>
              <a:defRPr sz="1100" b="1">
                <a:solidFill>
                  <a:srgbClr val="F43F5E"/>
                </a:solidFill>
              </a:defRPr>
            </a:pPr>
            <a:r>
              <a:t>PART 04: STUDIO FRAMEWORK</a:t>
            </a:r>
          </a:p>
          <a:p>
            <a:pPr>
              <a:defRPr sz="1300" b="1">
                <a:solidFill>
                  <a:srgbClr val="F8FAFC"/>
                </a:solidFill>
              </a:defRPr>
            </a:pPr>
            <a:r>
              <a:t>Heuristics &amp; Ethics</a:t>
            </a:r>
          </a:p>
          <a:p>
            <a:pPr>
              <a:defRPr sz="950">
                <a:solidFill>
                  <a:srgbClr val="94A3B8"/>
                </a:solidFill>
              </a:defRPr>
            </a:pPr>
            <a:r>
              <a:t>• The Danger Zone: Masahiro Mori's Uncanny Valley (1970)</a:t>
            </a:r>
          </a:p>
          <a:p>
            <a:pPr>
              <a:defRPr sz="950">
                <a:solidFill>
                  <a:srgbClr val="94A3B8"/>
                </a:solidFill>
              </a:defRPr>
            </a:pPr>
            <a:r>
              <a:t>• Ethical UX: Avoiding deceptive empathy and guilt traps</a:t>
            </a:r>
          </a:p>
          <a:p>
            <a:pPr>
              <a:defRPr sz="950">
                <a:solidFill>
                  <a:srgbClr val="94A3B8"/>
                </a:solidFill>
              </a:defRPr>
            </a:pPr>
            <a:r>
              <a:t>• 5-point B.Des design checklist for classroom projects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01 • SPATIAL ARCHITECTURE</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Superimposition: Meaning, Lineage &amp; Perception</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How the deliberate stacking of visual planes constructs depth and cognitive hierarchy</a:t>
            </a:r>
          </a:p>
        </p:txBody>
      </p:sp>
      <p:sp>
        <p:nvSpPr>
          <p:cNvPr id="6" name="Rounded Rectangle 5"/>
          <p:cNvSpPr/>
          <p:nvPr/>
        </p:nvSpPr>
        <p:spPr>
          <a:xfrm>
            <a:off x="731520" y="1645920"/>
            <a:ext cx="52120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663440" cy="4023360"/>
          </a:xfrm>
          <a:prstGeom prst="rect">
            <a:avLst/>
          </a:prstGeom>
          <a:noFill/>
        </p:spPr>
        <p:txBody>
          <a:bodyPr wrap="square" lIns="0" tIns="0" rIns="0" bIns="0">
            <a:spAutoFit/>
          </a:bodyPr>
          <a:lstStyle/>
          <a:p>
            <a:pPr>
              <a:defRPr sz="1100" b="1">
                <a:solidFill>
                  <a:srgbClr val="38BDF8"/>
                </a:solidFill>
              </a:defRPr>
            </a:pPr>
            <a:r>
              <a:t>CORE DESIGN DEFINITION</a:t>
            </a:r>
          </a:p>
          <a:p>
            <a:pPr>
              <a:defRPr sz="1100">
                <a:solidFill>
                  <a:srgbClr val="F8FAFC"/>
                </a:solidFill>
              </a:defRPr>
            </a:pPr>
            <a:r>
              <a:t>Superimposition is the deliberate overlapping, layering, or compositing of distinct visual elements, planes, or textures onto a shared viewport to create depth, contextual hierarchy, and emergent narrative.</a:t>
            </a:r>
          </a:p>
          <a:p>
            <a:br/>
            <a:pPr>
              <a:defRPr sz="1000" b="1">
                <a:solidFill>
                  <a:srgbClr val="2DD4BF"/>
                </a:solidFill>
              </a:defRPr>
            </a:pPr>
            <a:r>
              <a:t>HISTORICAL EVOLUTION IN GRAPHIC DESIGN:</a:t>
            </a:r>
          </a:p>
          <a:p>
            <a:pPr>
              <a:defRPr sz="900" b="1">
                <a:solidFill>
                  <a:srgbClr val="F8FAFC"/>
                </a:solidFill>
              </a:defRPr>
            </a:pPr>
            <a:r>
              <a:t>• Bauhaus &amp; Dada Photomontage (1920s): </a:t>
            </a:r>
            <a:r>
              <a:rPr b="0">
                <a:solidFill>
                  <a:srgbClr val="94A3B8"/>
                </a:solidFill>
              </a:rPr>
              <a:t>Artists like László Moholy-Nagy and Hannah Höch used superimposed clippings to break linear perspective and critique industrialization.</a:t>
            </a:r>
          </a:p>
          <a:p>
            <a:pPr>
              <a:defRPr sz="900" b="1">
                <a:solidFill>
                  <a:srgbClr val="F8FAFC"/>
                </a:solidFill>
              </a:defRPr>
            </a:pPr>
            <a:r>
              <a:t>• Swiss Typography &amp; Screenprinting (1950s): </a:t>
            </a:r>
            <a:r>
              <a:rPr b="0">
                <a:solidFill>
                  <a:srgbClr val="94A3B8"/>
                </a:solidFill>
              </a:rPr>
              <a:t>Layering transparent colored inks created geometric optical interactions and rigorous informational grids.</a:t>
            </a:r>
          </a:p>
          <a:p>
            <a:pPr>
              <a:defRPr sz="900" b="1">
                <a:solidFill>
                  <a:srgbClr val="F8FAFC"/>
                </a:solidFill>
              </a:defRPr>
            </a:pPr>
            <a:r>
              <a:t>• Postmodern Digital Chaos (1990s): </a:t>
            </a:r>
            <a:r>
              <a:rPr b="0">
                <a:solidFill>
                  <a:srgbClr val="94A3B8"/>
                </a:solidFill>
              </a:rPr>
              <a:t>David Carson and Ray Gun magazine layered typography over photography to evoke raw emotional expression over strict legibility.</a:t>
            </a:r>
          </a:p>
        </p:txBody>
      </p:sp>
      <p:sp>
        <p:nvSpPr>
          <p:cNvPr id="8" name="Rounded Rectangle 7"/>
          <p:cNvSpPr/>
          <p:nvPr/>
        </p:nvSpPr>
        <p:spPr>
          <a:xfrm>
            <a:off x="6217920" y="1645920"/>
            <a:ext cx="52120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20240"/>
            <a:ext cx="4663440" cy="4023360"/>
          </a:xfrm>
          <a:prstGeom prst="rect">
            <a:avLst/>
          </a:prstGeom>
          <a:noFill/>
        </p:spPr>
        <p:txBody>
          <a:bodyPr wrap="square" lIns="0" tIns="0" rIns="0" bIns="0">
            <a:spAutoFit/>
          </a:bodyPr>
          <a:lstStyle/>
          <a:p>
            <a:pPr>
              <a:defRPr sz="1100" b="1">
                <a:solidFill>
                  <a:srgbClr val="F59E0B"/>
                </a:solidFill>
              </a:defRPr>
            </a:pPr>
            <a:r>
              <a:t>COGNITIVE PSYCHOLOGY MECHANISMS</a:t>
            </a:r>
          </a:p>
          <a:p>
            <a:pPr>
              <a:defRPr sz="1100">
                <a:solidFill>
                  <a:srgbClr val="F8FAFC"/>
                </a:solidFill>
              </a:defRPr>
            </a:pPr>
            <a:r>
              <a:t>Why does superimposition work so effortlessly in the human brain?</a:t>
            </a:r>
          </a:p>
          <a:p>
            <a:br/>
            <a:pPr>
              <a:defRPr sz="950" b="1">
                <a:solidFill>
                  <a:srgbClr val="2DD4BF"/>
                </a:solidFill>
              </a:defRPr>
            </a:pPr>
            <a:r>
              <a:t>• Figure-Ground Segregation (Edgar Rubin):</a:t>
            </a:r>
            <a:br/>
            <a:r>
              <a:rPr b="0">
                <a:solidFill>
                  <a:srgbClr val="94A3B8"/>
                </a:solidFill>
              </a:rPr>
              <a:t>The visual cortex automatically distinguishes between focal objects (figures) and the contextual background (ground). Superimposition sharpens this separation.</a:t>
            </a:r>
          </a:p>
          <a:p>
            <a:br/>
            <a:pPr>
              <a:defRPr sz="950" b="1">
                <a:solidFill>
                  <a:srgbClr val="2DD4BF"/>
                </a:solidFill>
              </a:defRPr>
            </a:pPr>
            <a:r>
              <a:t>• Monocular Occlusion Cues:</a:t>
            </a:r>
            <a:br/>
            <a:r>
              <a:rPr b="0">
                <a:solidFill>
                  <a:srgbClr val="94A3B8"/>
                </a:solidFill>
              </a:rPr>
              <a:t>When Object A partially blocks Object B, the brain instinctively deduces that A is physically closer in 3D space than B. No 3D glasses needed!</a:t>
            </a:r>
          </a:p>
          <a:p>
            <a:br/>
            <a:pPr>
              <a:defRPr sz="950" b="1">
                <a:solidFill>
                  <a:srgbClr val="2DD4BF"/>
                </a:solidFill>
              </a:defRPr>
            </a:pPr>
            <a:r>
              <a:t>• Context Preservation (Zero Memory Penalty):</a:t>
            </a:r>
            <a:br/>
            <a:r>
              <a:rPr b="0">
                <a:solidFill>
                  <a:srgbClr val="94A3B8"/>
                </a:solidFill>
              </a:rPr>
              <a:t>Superimposing a drawer or tooltip over a form allows users to inspect reference data without losing their input state, preventing working memory overload.</a:t>
            </a:r>
          </a:p>
          <a:p>
            <a:br/>
            <a:pPr>
              <a:defRPr sz="850">
                <a:solidFill>
                  <a:srgbClr val="10B981"/>
                </a:solidFill>
              </a:defRPr>
            </a:pPr>
            <a:r>
              <a:t>UI/UX Heuristic: Always provide clear depth cues (elevation shadow, border, blur) so users understand what is interactive vs. what is background context.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01 • INTERFACE PATTERNS</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Superimposition in Modern UI/UX Architecture</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From CSS Z-Index Stacking to Spatial Glassmorphism and Heads-Up Displays</a:t>
            </a:r>
          </a:p>
        </p:txBody>
      </p:sp>
      <p:pic>
        <p:nvPicPr>
          <p:cNvPr id="6" name="Picture 5" descr="z_stack.png"/>
          <p:cNvPicPr>
            <a:picLocks noChangeAspect="1"/>
          </p:cNvPicPr>
          <p:nvPr/>
        </p:nvPicPr>
        <p:blipFill>
          <a:blip r:embed="rId2"/>
          <a:stretch>
            <a:fillRect/>
          </a:stretch>
        </p:blipFill>
        <p:spPr>
          <a:xfrm>
            <a:off x="731520" y="1645920"/>
            <a:ext cx="5303520" cy="4480560"/>
          </a:xfrm>
          <a:prstGeom prst="rect">
            <a:avLst/>
          </a:prstGeom>
        </p:spPr>
      </p:pic>
      <p:sp>
        <p:nvSpPr>
          <p:cNvPr id="7" name="Rounded Rectangle 6"/>
          <p:cNvSpPr/>
          <p:nvPr/>
        </p:nvSpPr>
        <p:spPr>
          <a:xfrm>
            <a:off x="6309360" y="1645920"/>
            <a:ext cx="5120640" cy="4480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4114800"/>
          </a:xfrm>
          <a:prstGeom prst="rect">
            <a:avLst/>
          </a:prstGeom>
          <a:noFill/>
        </p:spPr>
        <p:txBody>
          <a:bodyPr wrap="square" lIns="0" tIns="0" rIns="0" bIns="0">
            <a:spAutoFit/>
          </a:bodyPr>
          <a:lstStyle/>
          <a:p>
            <a:pPr>
              <a:defRPr sz="1100" b="1">
                <a:solidFill>
                  <a:srgbClr val="38BDF8"/>
                </a:solidFill>
              </a:defRPr>
            </a:pPr>
            <a:r>
              <a:t>CORE DIGITAL IMPLEMENTATIONS</a:t>
            </a:r>
          </a:p>
          <a:p>
            <a:br/>
            <a:pPr>
              <a:defRPr sz="1000" b="1">
                <a:solidFill>
                  <a:srgbClr val="2DD4BF"/>
                </a:solidFill>
              </a:defRPr>
            </a:pPr>
            <a:r>
              <a:t>1. Glassmorphism &amp; Translucency</a:t>
            </a:r>
          </a:p>
          <a:p>
            <a:pPr>
              <a:defRPr sz="900">
                <a:solidFill>
                  <a:srgbClr val="94A3B8"/>
                </a:solidFill>
              </a:defRPr>
            </a:pPr>
            <a:r>
              <a:t>CSS backdrop-filter: blur(20px) allows users to perceive that content continues beneath the active sheet (e.g. iOS Control Center, macOS Sonoma). It creates depth while maintaining orientation.</a:t>
            </a:r>
          </a:p>
          <a:p>
            <a:br/>
            <a:pPr>
              <a:defRPr sz="1000" b="1">
                <a:solidFill>
                  <a:srgbClr val="2DD4BF"/>
                </a:solidFill>
              </a:defRPr>
            </a:pPr>
            <a:r>
              <a:t>2. Persistent Floating Controls (FAB &amp; Bottom Sheets)</a:t>
            </a:r>
          </a:p>
          <a:p>
            <a:pPr>
              <a:defRPr sz="900">
                <a:solidFill>
                  <a:srgbClr val="94A3B8"/>
                </a:solidFill>
              </a:defRPr>
            </a:pPr>
            <a:r>
              <a:t>Floating Action Buttons and persistent action bars live at z-index 50. According to Fitts's Law, their superimposed position keeps high-frequency triggers within immediate thumb reach.</a:t>
            </a:r>
          </a:p>
          <a:p>
            <a:br/>
            <a:pPr>
              <a:defRPr sz="1000" b="1">
                <a:solidFill>
                  <a:srgbClr val="2DD4BF"/>
                </a:solidFill>
              </a:defRPr>
            </a:pPr>
            <a:r>
              <a:t>3. Spatial Computing &amp; Heads-Up Displays (HUDs)</a:t>
            </a:r>
          </a:p>
          <a:p>
            <a:pPr>
              <a:defRPr sz="900">
                <a:solidFill>
                  <a:srgbClr val="94A3B8"/>
                </a:solidFill>
              </a:defRPr>
            </a:pPr>
            <a:r>
              <a:t>In Apple VisionOS and automotive windshield HUDs, digital UI windows are superimposed directly onto the physical environment, using real-time ambient lighting cast shadows to look grounded.</a:t>
            </a:r>
          </a:p>
          <a:p>
            <a:br/>
            <a:pPr>
              <a:defRPr sz="850">
                <a:solidFill>
                  <a:srgbClr val="F43F5E"/>
                </a:solidFill>
              </a:defRPr>
            </a:pPr>
            <a:r>
              <a:t>CRITICAL UX WARNING: The 'Layer Cake' Trap</a:t>
            </a:r>
            <a:br/>
            <a:r>
              <a:t>Stacking more than 3 distinct active layers causes cognitive friction and fails WCAG AA contrast standards. Always enforce scrim dimming.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02 • EMOTIONAL AFFORDANCE</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Anthropomorphization: Evolutionary Roots &amp; Relational UX</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Attributing human traits, emotional states, and social intent to digital interfaces</a:t>
            </a:r>
          </a:p>
        </p:txBody>
      </p:sp>
      <p:sp>
        <p:nvSpPr>
          <p:cNvPr id="6" name="Rounded Rectangle 5"/>
          <p:cNvSpPr/>
          <p:nvPr/>
        </p:nvSpPr>
        <p:spPr>
          <a:xfrm>
            <a:off x="731520" y="1645920"/>
            <a:ext cx="52120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663440" cy="4023360"/>
          </a:xfrm>
          <a:prstGeom prst="rect">
            <a:avLst/>
          </a:prstGeom>
          <a:noFill/>
        </p:spPr>
        <p:txBody>
          <a:bodyPr wrap="square" lIns="0" tIns="0" rIns="0" bIns="0">
            <a:spAutoFit/>
          </a:bodyPr>
          <a:lstStyle/>
          <a:p>
            <a:pPr>
              <a:defRPr sz="1100" b="1">
                <a:solidFill>
                  <a:srgbClr val="A855F7"/>
                </a:solidFill>
              </a:defRPr>
            </a:pPr>
            <a:r>
              <a:t>CORE DESIGN DEFINITION</a:t>
            </a:r>
          </a:p>
          <a:p>
            <a:pPr>
              <a:defRPr sz="1100">
                <a:solidFill>
                  <a:srgbClr val="F8FAFC"/>
                </a:solidFill>
              </a:defRPr>
            </a:pPr>
            <a:r>
              <a:t>Anthropomorphism is the innate human tendency to attribute human traits, intentions, emotional expressions, or personality to non-human objects, software, and computational interfaces.</a:t>
            </a:r>
          </a:p>
          <a:p>
            <a:br/>
            <a:pPr>
              <a:defRPr sz="1000" b="1">
                <a:solidFill>
                  <a:srgbClr val="F59E0B"/>
                </a:solidFill>
              </a:defRPr>
            </a:pPr>
            <a:r>
              <a:t>THE BIOLOGICAL ENGINE: PAREIDOLIA</a:t>
            </a:r>
          </a:p>
          <a:p>
            <a:pPr>
              <a:defRPr sz="900" b="1">
                <a:solidFill>
                  <a:srgbClr val="F8FAFC"/>
                </a:solidFill>
              </a:defRPr>
            </a:pPr>
            <a:r>
              <a:t>• Fusiform Face Area (FFA): </a:t>
            </a:r>
            <a:r>
              <a:rPr b="0">
                <a:solidFill>
                  <a:srgbClr val="94A3B8"/>
                </a:solidFill>
              </a:rPr>
              <a:t>Human neurobiology is optimized to detect two eyes and a mouth within milliseconds. We see friendly 'faces' in car headlights, plugs, and app icons.</a:t>
            </a:r>
          </a:p>
          <a:p>
            <a:pPr>
              <a:defRPr sz="900" b="1">
                <a:solidFill>
                  <a:srgbClr val="F8FAFC"/>
                </a:solidFill>
              </a:defRPr>
            </a:pPr>
            <a:r>
              <a:t>• Social Brain Hypothesis: </a:t>
            </a:r>
            <a:r>
              <a:rPr b="0">
                <a:solidFill>
                  <a:srgbClr val="94A3B8"/>
                </a:solidFill>
              </a:rPr>
              <a:t>Humans process computer interactions using the exact same social heuristics we use with other humans (Byron Reeves &amp; Clifford Nass, 'The Media Equation').</a:t>
            </a:r>
          </a:p>
          <a:p>
            <a:pPr>
              <a:defRPr sz="900" b="1">
                <a:solidFill>
                  <a:srgbClr val="F8FAFC"/>
                </a:solidFill>
              </a:defRPr>
            </a:pPr>
            <a:r>
              <a:t>• Infantile Schema (Kindchenschema): </a:t>
            </a:r>
            <a:r>
              <a:rPr b="0">
                <a:solidFill>
                  <a:srgbClr val="94A3B8"/>
                </a:solidFill>
              </a:rPr>
              <a:t>Konrad Lorenz identified that large heads, large eyes, and soft curved contours trigger instinctual parental warmth and protection.</a:t>
            </a:r>
          </a:p>
        </p:txBody>
      </p:sp>
      <p:sp>
        <p:nvSpPr>
          <p:cNvPr id="8" name="Rounded Rectangle 7"/>
          <p:cNvSpPr/>
          <p:nvPr/>
        </p:nvSpPr>
        <p:spPr>
          <a:xfrm>
            <a:off x="6217920" y="1645920"/>
            <a:ext cx="52120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20240"/>
            <a:ext cx="4663440" cy="4023360"/>
          </a:xfrm>
          <a:prstGeom prst="rect">
            <a:avLst/>
          </a:prstGeom>
          <a:noFill/>
        </p:spPr>
        <p:txBody>
          <a:bodyPr wrap="square" lIns="0" tIns="0" rIns="0" bIns="0">
            <a:spAutoFit/>
          </a:bodyPr>
          <a:lstStyle/>
          <a:p>
            <a:pPr>
              <a:defRPr sz="1100" b="1">
                <a:solidFill>
                  <a:srgbClr val="2DD4BF"/>
                </a:solidFill>
              </a:defRPr>
            </a:pPr>
            <a:r>
              <a:t>STRATEGIC VALUE IN UI/UX DESIGN</a:t>
            </a:r>
          </a:p>
          <a:p>
            <a:br/>
            <a:pPr>
              <a:defRPr sz="950" b="1">
                <a:solidFill>
                  <a:srgbClr val="38BDF8"/>
                </a:solidFill>
              </a:defRPr>
            </a:pPr>
            <a:r>
              <a:t>1. Immediate Cognitive Familiarity</a:t>
            </a:r>
          </a:p>
          <a:p>
            <a:pPr>
              <a:defRPr sz="900">
                <a:solidFill>
                  <a:srgbClr val="94A3B8"/>
                </a:solidFill>
              </a:defRPr>
            </a:pPr>
            <a:r>
              <a:t>Instead of reading lengthy documentation, users rely on innate social protocols (greetings, turn-taking, nodding) to navigate complex digital systems.</a:t>
            </a:r>
          </a:p>
          <a:p>
            <a:br/>
            <a:pPr>
              <a:defRPr sz="950" b="1">
                <a:solidFill>
                  <a:srgbClr val="38BDF8"/>
                </a:solidFill>
              </a:defRPr>
            </a:pPr>
            <a:r>
              <a:t>2. Reducing Technophobia &amp; Onboarding Fear</a:t>
            </a:r>
          </a:p>
          <a:p>
            <a:pPr>
              <a:defRPr sz="900">
                <a:solidFill>
                  <a:srgbClr val="94A3B8"/>
                </a:solidFill>
              </a:defRPr>
            </a:pPr>
            <a:r>
              <a:t>Intimidating financial, medical, or tax software feels approachable when a humble, humanlike guide walks the user step-by-step.</a:t>
            </a:r>
          </a:p>
          <a:p>
            <a:br/>
            <a:pPr>
              <a:defRPr sz="950" b="1">
                <a:solidFill>
                  <a:srgbClr val="38BDF8"/>
                </a:solidFill>
              </a:defRPr>
            </a:pPr>
            <a:r>
              <a:t>3. The 'Pratfall Effect' &amp; Error Tolerance</a:t>
            </a:r>
          </a:p>
          <a:p>
            <a:pPr>
              <a:defRPr sz="900">
                <a:solidFill>
                  <a:srgbClr val="94A3B8"/>
                </a:solidFill>
              </a:defRPr>
            </a:pPr>
            <a:r>
              <a:t>When an interface displays genuine humanlike humility (e.g. 'Oops, we dropped the ball!'), users exhibit significantly higher patience and lower churn than when confronted with robotic HTTP error codes.</a:t>
            </a:r>
          </a:p>
          <a:p>
            <a:br/>
            <a:pPr>
              <a:defRPr sz="950" b="1">
                <a:solidFill>
                  <a:srgbClr val="38BDF8"/>
                </a:solidFill>
              </a:defRPr>
            </a:pPr>
            <a:r>
              <a:t>4. Brand Recall &amp; Emotional Stickiness</a:t>
            </a:r>
          </a:p>
          <a:p>
            <a:pPr>
              <a:defRPr sz="900">
                <a:solidFill>
                  <a:srgbClr val="94A3B8"/>
                </a:solidFill>
              </a:defRPr>
            </a:pPr>
            <a:r>
              <a:t>Users don't form emotional relationships with database engines; they form relationships with personalities (e.g. Duolingo's Duo, Github's Octocat, Apple's Siri).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02 • THEORETICAL FRAMEWORK</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Don Norman's 3 Levels of Emotional Design</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Mapping Visceral, Behavioral, and Reflective layers to UI Anthropomorphism</a:t>
            </a:r>
          </a:p>
        </p:txBody>
      </p:sp>
      <p:pic>
        <p:nvPicPr>
          <p:cNvPr id="6" name="Picture 5" descr="emotional_design.png"/>
          <p:cNvPicPr>
            <a:picLocks noChangeAspect="1"/>
          </p:cNvPicPr>
          <p:nvPr/>
        </p:nvPicPr>
        <p:blipFill>
          <a:blip r:embed="rId2"/>
          <a:stretch>
            <a:fillRect/>
          </a:stretch>
        </p:blipFill>
        <p:spPr>
          <a:xfrm>
            <a:off x="731520" y="1645920"/>
            <a:ext cx="5303520" cy="4480560"/>
          </a:xfrm>
          <a:prstGeom prst="rect">
            <a:avLst/>
          </a:prstGeom>
        </p:spPr>
      </p:pic>
      <p:sp>
        <p:nvSpPr>
          <p:cNvPr id="7" name="Rounded Rectangle 6"/>
          <p:cNvSpPr/>
          <p:nvPr/>
        </p:nvSpPr>
        <p:spPr>
          <a:xfrm>
            <a:off x="6309360" y="1645920"/>
            <a:ext cx="5120640" cy="4480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4114800"/>
          </a:xfrm>
          <a:prstGeom prst="rect">
            <a:avLst/>
          </a:prstGeom>
          <a:noFill/>
        </p:spPr>
        <p:txBody>
          <a:bodyPr wrap="square" lIns="0" tIns="0" rIns="0" bIns="0">
            <a:spAutoFit/>
          </a:bodyPr>
          <a:lstStyle/>
          <a:p>
            <a:pPr>
              <a:defRPr sz="1100" b="1">
                <a:solidFill>
                  <a:srgbClr val="F59E0B"/>
                </a:solidFill>
              </a:defRPr>
            </a:pPr>
            <a:r>
              <a:t>TRANSLATING NORMAN'S TRIAD TO INTERFACES</a:t>
            </a:r>
          </a:p>
          <a:p>
            <a:br/>
            <a:pPr>
              <a:defRPr sz="1000" b="1">
                <a:solidFill>
                  <a:srgbClr val="2DD4BF"/>
                </a:solidFill>
              </a:defRPr>
            </a:pPr>
            <a:r>
              <a:t>1. Visceral Level (Pre-Cognitive / Gut Reaction)</a:t>
            </a:r>
          </a:p>
          <a:p>
            <a:pPr>
              <a:defRPr sz="900">
                <a:solidFill>
                  <a:srgbClr val="94A3B8"/>
                </a:solidFill>
              </a:defRPr>
            </a:pPr>
            <a:r>
              <a:t>Processed in &lt;50ms. Triggered by baby-schema geometry, warm color harmonies, rounded button corners, and friendly visual symmetry. It asks: 'Does this look safe and delightful?'</a:t>
            </a:r>
          </a:p>
          <a:p>
            <a:br/>
            <a:pPr>
              <a:defRPr sz="1000" b="1">
                <a:solidFill>
                  <a:srgbClr val="2DD4BF"/>
                </a:solidFill>
              </a:defRPr>
            </a:pPr>
            <a:r>
              <a:t>2. Behavioral Level (Usability &amp; Organic Physics)</a:t>
            </a:r>
          </a:p>
          <a:p>
            <a:pPr>
              <a:defRPr sz="900">
                <a:solidFill>
                  <a:srgbClr val="94A3B8"/>
                </a:solidFill>
              </a:defRPr>
            </a:pPr>
            <a:r>
              <a:t>How the interface feels during direct manipulation. Springs that compress on drag, loading skeletons that breathe with human lung cadence, micro-switches that snap like tactile physical toggles. It asks: 'Does this respond naturally?'</a:t>
            </a:r>
          </a:p>
          <a:p>
            <a:br/>
            <a:pPr>
              <a:defRPr sz="1000" b="1">
                <a:solidFill>
                  <a:srgbClr val="2DD4BF"/>
                </a:solidFill>
              </a:defRPr>
            </a:pPr>
            <a:r>
              <a:t>3. Reflective Level (Identity, Pride &amp; Storytelling)</a:t>
            </a:r>
          </a:p>
          <a:p>
            <a:pPr>
              <a:defRPr sz="900">
                <a:solidFill>
                  <a:srgbClr val="94A3B8"/>
                </a:solidFill>
              </a:defRPr>
            </a:pPr>
            <a:r>
              <a:t>The post-interaction narrative. How users feel about their own identity after engaging. Duolingo's mascot celebrating user language milestones, Spotify Wrapped diagnosing music personalities. It asks: 'What does this product say about who I 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02 • TOUCHPOINTS &amp; MASCOTS</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Digital Touchpoints: Mascots, Physics &amp; Microcopy</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How subtle human gestures and brand personas turn mechanical tools into companions</a:t>
            </a:r>
          </a:p>
        </p:txBody>
      </p:sp>
      <p:sp>
        <p:nvSpPr>
          <p:cNvPr id="6" name="Rounded Rectangle 5"/>
          <p:cNvSpPr/>
          <p:nvPr/>
        </p:nvSpPr>
        <p:spPr>
          <a:xfrm>
            <a:off x="731520" y="1645920"/>
            <a:ext cx="38404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m_anthropomorphism.jpg"/>
          <p:cNvPicPr>
            <a:picLocks noChangeAspect="1"/>
          </p:cNvPicPr>
          <p:nvPr/>
        </p:nvPicPr>
        <p:blipFill>
          <a:blip r:embed="rId2"/>
          <a:stretch>
            <a:fillRect/>
          </a:stretch>
        </p:blipFill>
        <p:spPr>
          <a:xfrm>
            <a:off x="1005840" y="1828800"/>
            <a:ext cx="3291840" cy="3291840"/>
          </a:xfrm>
          <a:prstGeom prst="rect">
            <a:avLst/>
          </a:prstGeom>
        </p:spPr>
      </p:pic>
      <p:sp>
        <p:nvSpPr>
          <p:cNvPr id="8" name="TextBox 7"/>
          <p:cNvSpPr txBox="1"/>
          <p:nvPr/>
        </p:nvSpPr>
        <p:spPr>
          <a:xfrm>
            <a:off x="1005840" y="5212080"/>
            <a:ext cx="3291840" cy="822960"/>
          </a:xfrm>
          <a:prstGeom prst="rect">
            <a:avLst/>
          </a:prstGeom>
          <a:noFill/>
        </p:spPr>
        <p:txBody>
          <a:bodyPr wrap="square" lIns="0" tIns="0" rIns="0" bIns="0">
            <a:spAutoFit/>
          </a:bodyPr>
          <a:lstStyle/>
          <a:p>
            <a:pPr>
              <a:defRPr sz="1000" b="1">
                <a:solidFill>
                  <a:srgbClr val="F59E0B"/>
                </a:solidFill>
              </a:defRPr>
            </a:pPr>
            <a:r>
              <a:t>Mascot Persona in Action</a:t>
            </a:r>
          </a:p>
          <a:p>
            <a:pPr>
              <a:defRPr sz="800">
                <a:solidFill>
                  <a:srgbClr val="94A3B8"/>
                </a:solidFill>
              </a:defRPr>
            </a:pPr>
            <a:r>
              <a:t>Classic anthropomorphic animation: projecting human social drama (mugshot, smirk) onto a character. Digital UI uses this same technique to make brand mascots unforgettable.</a:t>
            </a:r>
          </a:p>
        </p:txBody>
      </p:sp>
      <p:sp>
        <p:nvSpPr>
          <p:cNvPr id="9" name="Rounded Rectangle 8"/>
          <p:cNvSpPr/>
          <p:nvPr/>
        </p:nvSpPr>
        <p:spPr>
          <a:xfrm>
            <a:off x="4846320" y="1645920"/>
            <a:ext cx="65836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920240"/>
            <a:ext cx="6035040" cy="4023360"/>
          </a:xfrm>
          <a:prstGeom prst="rect">
            <a:avLst/>
          </a:prstGeom>
          <a:noFill/>
        </p:spPr>
        <p:txBody>
          <a:bodyPr wrap="square" lIns="0" tIns="0" rIns="0" bIns="0">
            <a:spAutoFit/>
          </a:bodyPr>
          <a:lstStyle/>
          <a:p>
            <a:pPr>
              <a:defRPr sz="1100" b="1">
                <a:solidFill>
                  <a:srgbClr val="38BDF8"/>
                </a:solidFill>
              </a:defRPr>
            </a:pPr>
            <a:r>
              <a:t>THREE PILLARS OF INTERFACE ANTHROPOMORPHISM</a:t>
            </a:r>
          </a:p>
          <a:p>
            <a:br/>
            <a:pPr>
              <a:defRPr sz="1050" b="1">
                <a:solidFill>
                  <a:srgbClr val="2DD4BF"/>
                </a:solidFill>
              </a:defRPr>
            </a:pPr>
            <a:r>
              <a:t>A. Micro-Interactions &amp; Organic Physics</a:t>
            </a:r>
          </a:p>
          <a:p>
            <a:pPr>
              <a:defRPr sz="950">
                <a:solidFill>
                  <a:srgbClr val="94A3B8"/>
                </a:solidFill>
              </a:defRPr>
            </a:pPr>
            <a:r>
              <a:t>Instead of robotic linear transitions (ease-in-out), modern UI uses damping springs and gravity. When you drag a card on iOS, it squishes slightly like rubber; when you refresh, the spinner stretches like elastic dough. This simulates natural biological tactile feedback.</a:t>
            </a:r>
          </a:p>
          <a:p>
            <a:br/>
            <a:pPr>
              <a:defRPr sz="1050" b="1">
                <a:solidFill>
                  <a:srgbClr val="2DD4BF"/>
                </a:solidFill>
              </a:defRPr>
            </a:pPr>
            <a:r>
              <a:t>B. Contextual Peek-a-Boo &amp; Mascot Reactions</a:t>
            </a:r>
          </a:p>
          <a:p>
            <a:pPr>
              <a:defRPr sz="950">
                <a:solidFill>
                  <a:srgbClr val="94A3B8"/>
                </a:solidFill>
              </a:defRPr>
            </a:pPr>
            <a:r>
              <a:t>On login pages like Readme.com, the mascot covers its eyes when the user clicks into the password input field, then peeks when the user toggles 'show password'. This humanizes the routine act of authentication, eliciting a genuine smile.</a:t>
            </a:r>
          </a:p>
          <a:p>
            <a:br/>
            <a:pPr>
              <a:defRPr sz="1050" b="1">
                <a:solidFill>
                  <a:srgbClr val="2DD4BF"/>
                </a:solidFill>
              </a:defRPr>
            </a:pPr>
            <a:r>
              <a:t>C. Conversational Voice &amp; Microcopy Rhythm</a:t>
            </a:r>
          </a:p>
          <a:p>
            <a:pPr>
              <a:defRPr sz="950">
                <a:solidFill>
                  <a:srgbClr val="94A3B8"/>
                </a:solidFill>
              </a:defRPr>
            </a:pPr>
            <a:r>
              <a:t>Robotic error: 'Error 404: Object Null Reference'. Anthropomorphic microcopy: 'We looked everywhere, but we couldn't find that page. Let's get you back home.' Conversational phrasing restores user confidence and eliminates technological intimidation.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02 • THE DANGER ZONE</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Masahiro Mori's Uncanny Valley (1970) in UX</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Why hyper-realistic avatars creep users out, and why honest abstraction always wins</a:t>
            </a:r>
          </a:p>
        </p:txBody>
      </p:sp>
      <p:pic>
        <p:nvPicPr>
          <p:cNvPr id="6" name="Picture 5" descr="uncanny_valley.png"/>
          <p:cNvPicPr>
            <a:picLocks noChangeAspect="1"/>
          </p:cNvPicPr>
          <p:nvPr/>
        </p:nvPicPr>
        <p:blipFill>
          <a:blip r:embed="rId2"/>
          <a:stretch>
            <a:fillRect/>
          </a:stretch>
        </p:blipFill>
        <p:spPr>
          <a:xfrm>
            <a:off x="731520" y="1645920"/>
            <a:ext cx="5303520" cy="4480560"/>
          </a:xfrm>
          <a:prstGeom prst="rect">
            <a:avLst/>
          </a:prstGeom>
        </p:spPr>
      </p:pic>
      <p:sp>
        <p:nvSpPr>
          <p:cNvPr id="7" name="Rounded Rectangle 6"/>
          <p:cNvSpPr/>
          <p:nvPr/>
        </p:nvSpPr>
        <p:spPr>
          <a:xfrm>
            <a:off x="6309360" y="1645920"/>
            <a:ext cx="5120640" cy="4480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828800"/>
            <a:ext cx="4572000" cy="4114800"/>
          </a:xfrm>
          <a:prstGeom prst="rect">
            <a:avLst/>
          </a:prstGeom>
          <a:noFill/>
        </p:spPr>
        <p:txBody>
          <a:bodyPr wrap="square" lIns="0" tIns="0" rIns="0" bIns="0">
            <a:spAutoFit/>
          </a:bodyPr>
          <a:lstStyle/>
          <a:p>
            <a:pPr>
              <a:defRPr sz="1100" b="1">
                <a:solidFill>
                  <a:srgbClr val="F43F5E"/>
                </a:solidFill>
              </a:defRPr>
            </a:pPr>
            <a:r>
              <a:t>THE PSYCHOLOGICAL REJECTION THRESHOLD</a:t>
            </a:r>
          </a:p>
          <a:p>
            <a:pPr>
              <a:defRPr sz="950">
                <a:solidFill>
                  <a:srgbClr val="F8FAFC"/>
                </a:solidFill>
              </a:defRPr>
            </a:pPr>
            <a:r>
              <a:t>Formulated by Japanese roboticist Masahiro Mori in 1970: As an artificial entity becomes more human-like, user comfort increases up to a cliff where near-human imperfections trigger evolutionary disgust and distrust.</a:t>
            </a:r>
          </a:p>
          <a:p>
            <a:br/>
            <a:pPr>
              <a:defRPr sz="950" b="1">
                <a:solidFill>
                  <a:srgbClr val="F59E0B"/>
                </a:solidFill>
              </a:defRPr>
            </a:pPr>
            <a:r>
              <a:t>• The Metaverse Avatar Trap:</a:t>
            </a:r>
          </a:p>
          <a:p>
            <a:pPr>
              <a:defRPr sz="900">
                <a:solidFill>
                  <a:srgbClr val="94A3B8"/>
                </a:solidFill>
              </a:defRPr>
            </a:pPr>
            <a:r>
              <a:t>Early VR attempts at photorealistic 3D human avatars resulted in lifeless, glazed eyes, mismatched lip sync, and stiff micro-expressions that alienated users.</a:t>
            </a:r>
          </a:p>
          <a:p>
            <a:br/>
            <a:pPr>
              <a:defRPr sz="950" b="1">
                <a:solidFill>
                  <a:srgbClr val="F59E0B"/>
                </a:solidFill>
              </a:defRPr>
            </a:pPr>
            <a:r>
              <a:t>• The Synthetic Bank Teller Failure:</a:t>
            </a:r>
          </a:p>
          <a:p>
            <a:pPr>
              <a:defRPr sz="900">
                <a:solidFill>
                  <a:srgbClr val="94A3B8"/>
                </a:solidFill>
              </a:defRPr>
            </a:pPr>
            <a:r>
              <a:t>AI customer service agents with rendered 3D human faces make users hyper-scrutinize every glitch. Users report feeling watched by a digital zombie.</a:t>
            </a:r>
          </a:p>
          <a:p>
            <a:br/>
            <a:pPr>
              <a:defRPr sz="950" b="1">
                <a:solidFill>
                  <a:srgbClr val="F59E0B"/>
                </a:solidFill>
              </a:defRPr>
            </a:pPr>
            <a:r>
              <a:t>• The Sweet Spot: Honest Stylization:</a:t>
            </a:r>
          </a:p>
          <a:p>
            <a:pPr>
              <a:defRPr sz="900">
                <a:solidFill>
                  <a:srgbClr val="94A3B8"/>
                </a:solidFill>
              </a:defRPr>
            </a:pPr>
            <a:r>
              <a:t>Duolingo, Pixar characters, Discord Wumpus, and Slack emoji stay safely on the left peak. Because they are stylized cartoons, the user's imagination fills in the emotional warmth without expecting anatomical perfection.</a:t>
            </a:r>
          </a:p>
          <a:p>
            <a:br/>
            <a:pPr>
              <a:defRPr sz="950" b="1">
                <a:solidFill>
                  <a:srgbClr val="10B981"/>
                </a:solidFill>
              </a:defRPr>
            </a:pPr>
            <a:r>
              <a:t>B.Des Studio Rule: 'Stylize the form, humanize the behavior. Never fake human biology.'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03 • THE NEXUS</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When Superimposition Meets Anthropomorphism</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Spatial Empathy: Anchoring humanized agents onto multi-layered reality</a:t>
            </a:r>
          </a:p>
        </p:txBody>
      </p:sp>
      <p:sp>
        <p:nvSpPr>
          <p:cNvPr id="6" name="Rounded Rectangle 5"/>
          <p:cNvSpPr/>
          <p:nvPr/>
        </p:nvSpPr>
        <p:spPr>
          <a:xfrm>
            <a:off x="731520" y="1645920"/>
            <a:ext cx="38404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untain_superimposition.jpeg"/>
          <p:cNvPicPr>
            <a:picLocks noChangeAspect="1"/>
          </p:cNvPicPr>
          <p:nvPr/>
        </p:nvPicPr>
        <p:blipFill>
          <a:blip r:embed="rId2"/>
          <a:stretch>
            <a:fillRect/>
          </a:stretch>
        </p:blipFill>
        <p:spPr>
          <a:xfrm>
            <a:off x="1005840" y="1828800"/>
            <a:ext cx="3291840" cy="3291840"/>
          </a:xfrm>
          <a:prstGeom prst="rect">
            <a:avLst/>
          </a:prstGeom>
        </p:spPr>
      </p:pic>
      <p:sp>
        <p:nvSpPr>
          <p:cNvPr id="8" name="TextBox 7"/>
          <p:cNvSpPr txBox="1"/>
          <p:nvPr/>
        </p:nvSpPr>
        <p:spPr>
          <a:xfrm>
            <a:off x="1005840" y="5212080"/>
            <a:ext cx="3291840" cy="822960"/>
          </a:xfrm>
          <a:prstGeom prst="rect">
            <a:avLst/>
          </a:prstGeom>
          <a:noFill/>
        </p:spPr>
        <p:txBody>
          <a:bodyPr wrap="square" lIns="0" tIns="0" rIns="0" bIns="0">
            <a:spAutoFit/>
          </a:bodyPr>
          <a:lstStyle/>
          <a:p>
            <a:pPr>
              <a:defRPr sz="950" b="1">
                <a:solidFill>
                  <a:srgbClr val="2DD4BF"/>
                </a:solidFill>
              </a:defRPr>
            </a:pPr>
            <a:r>
              <a:t>Visual Art Case: Spatial Superimposition</a:t>
            </a:r>
          </a:p>
          <a:p>
            <a:pPr>
              <a:defRPr sz="800">
                <a:solidFill>
                  <a:srgbClr val="94A3B8"/>
                </a:solidFill>
              </a:defRPr>
            </a:pPr>
            <a:r>
              <a:t>Superimposing humanoid figures onto a mountain landscape imbues cold geography with emotional presence and divine protection.</a:t>
            </a:r>
          </a:p>
        </p:txBody>
      </p:sp>
      <p:sp>
        <p:nvSpPr>
          <p:cNvPr id="9" name="Rounded Rectangle 8"/>
          <p:cNvSpPr/>
          <p:nvPr/>
        </p:nvSpPr>
        <p:spPr>
          <a:xfrm>
            <a:off x="4846320" y="1645920"/>
            <a:ext cx="6583680" cy="457200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920240"/>
            <a:ext cx="6035040" cy="4023360"/>
          </a:xfrm>
          <a:prstGeom prst="rect">
            <a:avLst/>
          </a:prstGeom>
          <a:noFill/>
        </p:spPr>
        <p:txBody>
          <a:bodyPr wrap="square" lIns="0" tIns="0" rIns="0" bIns="0">
            <a:spAutoFit/>
          </a:bodyPr>
          <a:lstStyle/>
          <a:p>
            <a:pPr>
              <a:defRPr sz="1100" b="1">
                <a:solidFill>
                  <a:srgbClr val="A855F7"/>
                </a:solidFill>
              </a:defRPr>
            </a:pPr>
            <a:r>
              <a:t>THREE SPATIAL EMPATHY PARADIGMS IN UI/UX</a:t>
            </a:r>
          </a:p>
          <a:p>
            <a:br/>
            <a:pPr>
              <a:defRPr sz="1050" b="1">
                <a:solidFill>
                  <a:srgbClr val="2DD4BF"/>
                </a:solidFill>
              </a:defRPr>
            </a:pPr>
            <a:r>
              <a:t>1. Apple VisionOS 'Spatial Personas'</a:t>
            </a:r>
          </a:p>
          <a:p>
            <a:pPr>
              <a:defRPr sz="950">
                <a:solidFill>
                  <a:srgbClr val="94A3B8"/>
                </a:solidFill>
              </a:defRPr>
            </a:pPr>
            <a:r>
              <a:t>Apple solved the isolation of VR by superimposing real-time 3D volumetric avatars into the user's living room during FaceTime. By synchronizing micro-gaze tracking and spatial audio, it creates the cognitive illusion of another human sharing your physical room.</a:t>
            </a:r>
          </a:p>
          <a:p>
            <a:br/>
            <a:pPr>
              <a:defRPr sz="1050" b="1">
                <a:solidFill>
                  <a:srgbClr val="2DD4BF"/>
                </a:solidFill>
              </a:defRPr>
            </a:pPr>
            <a:r>
              <a:t>2. Real-Time AR Face Tracking &amp; Lenses (Snapchat / Instagram)</a:t>
            </a:r>
          </a:p>
          <a:p>
            <a:pPr>
              <a:defRPr sz="950">
                <a:solidFill>
                  <a:srgbClr val="94A3B8"/>
                </a:solidFill>
              </a:defRPr>
            </a:pPr>
            <a:r>
              <a:t>Superimposing anthropomorphic animal features, blush, and exaggerated eyes directly onto the user's live video feed. This merges the user's own identity with an expressive avatar layer in real time.</a:t>
            </a:r>
          </a:p>
          <a:p>
            <a:br/>
            <a:pPr>
              <a:defRPr sz="1050" b="1">
                <a:solidFill>
                  <a:srgbClr val="2DD4BF"/>
                </a:solidFill>
              </a:defRPr>
            </a:pPr>
            <a:r>
              <a:t>3. Spatial AI Companions &amp; Ambient Assistants</a:t>
            </a:r>
          </a:p>
          <a:p>
            <a:pPr>
              <a:defRPr sz="950">
                <a:solidFill>
                  <a:srgbClr val="94A3B8"/>
                </a:solidFill>
              </a:defRPr>
            </a:pPr>
            <a:r>
              <a:t>In future smart home and automotive interfaces, AI agents won't be confined to flat rectangles; they will be superimposed as ambient spatial holographic entities on kitchen counters or dashboards, gesturing and making eye contact.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03 • CASE STUDY TEARDOWN</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Comparative Heuristic Matrix: Industry Case Studies</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A structured breakdown of modern digital products utilizing both design levers</a:t>
            </a:r>
          </a:p>
        </p:txBody>
      </p:sp>
      <p:graphicFrame>
        <p:nvGraphicFramePr>
          <p:cNvPr id="6" name="Table 5"/>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1645920"/>
                <a:gridCol w="2286000"/>
                <a:gridCol w="2286000"/>
                <a:gridCol w="2377440"/>
                <a:gridCol w="2103120"/>
              </a:tblGrid>
              <a:tr h="877824">
                <a:tc>
                  <a:txBody>
                    <a:bodyPr/>
                    <a:lstStyle/>
                    <a:p>
                      <a:pPr algn="ctr">
                        <a:defRPr sz="950" b="1">
                          <a:solidFill>
                            <a:srgbClr val="38BDF8"/>
                          </a:solidFill>
                        </a:defRPr>
                      </a:pPr>
                      <a:r>
                        <a:t>PRODUCT / USE CASE</a:t>
                      </a:r>
                    </a:p>
                  </a:txBody>
                  <a:tcPr>
                    <a:solidFill>
                      <a:srgbClr val="212C3F"/>
                    </a:solidFill>
                  </a:tcPr>
                </a:tc>
                <a:tc>
                  <a:txBody>
                    <a:bodyPr/>
                    <a:lstStyle/>
                    <a:p>
                      <a:pPr algn="ctr">
                        <a:defRPr sz="950" b="1">
                          <a:solidFill>
                            <a:srgbClr val="38BDF8"/>
                          </a:solidFill>
                        </a:defRPr>
                      </a:pPr>
                      <a:r>
                        <a:t>SUPERIMPOSITION TYPE</a:t>
                      </a:r>
                    </a:p>
                  </a:txBody>
                  <a:tcPr>
                    <a:solidFill>
                      <a:srgbClr val="212C3F"/>
                    </a:solidFill>
                  </a:tcPr>
                </a:tc>
                <a:tc>
                  <a:txBody>
                    <a:bodyPr/>
                    <a:lstStyle/>
                    <a:p>
                      <a:pPr algn="ctr">
                        <a:defRPr sz="950" b="1">
                          <a:solidFill>
                            <a:srgbClr val="38BDF8"/>
                          </a:solidFill>
                        </a:defRPr>
                      </a:pPr>
                      <a:r>
                        <a:t>ANTHROPOMORPHIC TRAIT</a:t>
                      </a:r>
                    </a:p>
                  </a:txBody>
                  <a:tcPr>
                    <a:solidFill>
                      <a:srgbClr val="212C3F"/>
                    </a:solidFill>
                  </a:tcPr>
                </a:tc>
                <a:tc>
                  <a:txBody>
                    <a:bodyPr/>
                    <a:lstStyle/>
                    <a:p>
                      <a:pPr algn="ctr">
                        <a:defRPr sz="950" b="1">
                          <a:solidFill>
                            <a:srgbClr val="38BDF8"/>
                          </a:solidFill>
                        </a:defRPr>
                      </a:pPr>
                      <a:r>
                        <a:t>UX IMPACT &amp; METRIC</a:t>
                      </a:r>
                    </a:p>
                  </a:txBody>
                  <a:tcPr>
                    <a:solidFill>
                      <a:srgbClr val="212C3F"/>
                    </a:solidFill>
                  </a:tcPr>
                </a:tc>
                <a:tc>
                  <a:txBody>
                    <a:bodyPr/>
                    <a:lstStyle/>
                    <a:p>
                      <a:pPr algn="ctr">
                        <a:defRPr sz="950" b="1">
                          <a:solidFill>
                            <a:srgbClr val="38BDF8"/>
                          </a:solidFill>
                        </a:defRPr>
                      </a:pPr>
                      <a:r>
                        <a:t>FAILURE RISK</a:t>
                      </a:r>
                    </a:p>
                  </a:txBody>
                  <a:tcPr>
                    <a:solidFill>
                      <a:srgbClr val="212C3F"/>
                    </a:solidFill>
                  </a:tcPr>
                </a:tc>
              </a:tr>
              <a:tr h="877824">
                <a:tc>
                  <a:txBody>
                    <a:bodyPr/>
                    <a:lstStyle/>
                    <a:p>
                      <a:pPr>
                        <a:defRPr sz="850" b="1">
                          <a:solidFill>
                            <a:srgbClr val="2DD4BF"/>
                          </a:solidFill>
                        </a:defRPr>
                      </a:pPr>
                      <a:r>
                        <a:t>Duolingo Streak HUD</a:t>
                      </a:r>
                    </a:p>
                  </a:txBody>
                  <a:tcPr>
                    <a:solidFill>
                      <a:srgbClr val="18202F"/>
                    </a:solidFill>
                  </a:tcPr>
                </a:tc>
                <a:tc>
                  <a:txBody>
                    <a:bodyPr/>
                    <a:lstStyle/>
                    <a:p>
                      <a:pPr>
                        <a:defRPr sz="850">
                          <a:solidFill>
                            <a:srgbClr val="94A3B8"/>
                          </a:solidFill>
                        </a:defRPr>
                      </a:pPr>
                      <a:r>
                        <a:t>Floating Lockscreen Widget &amp; Dynamic Island overlay</a:t>
                      </a:r>
                    </a:p>
                  </a:txBody>
                  <a:tcPr>
                    <a:solidFill>
                      <a:srgbClr val="18202F"/>
                    </a:solidFill>
                  </a:tcPr>
                </a:tc>
                <a:tc>
                  <a:txBody>
                    <a:bodyPr/>
                    <a:lstStyle/>
                    <a:p>
                      <a:pPr>
                        <a:defRPr sz="850">
                          <a:solidFill>
                            <a:srgbClr val="94A3B8"/>
                          </a:solidFill>
                        </a:defRPr>
                      </a:pPr>
                      <a:r>
                        <a:t>Urgent, weeping, or ecstatic mascot persona (Duo)</a:t>
                      </a:r>
                    </a:p>
                  </a:txBody>
                  <a:tcPr>
                    <a:solidFill>
                      <a:srgbClr val="18202F"/>
                    </a:solidFill>
                  </a:tcPr>
                </a:tc>
                <a:tc>
                  <a:txBody>
                    <a:bodyPr/>
                    <a:lstStyle/>
                    <a:p>
                      <a:pPr>
                        <a:defRPr sz="850">
                          <a:solidFill>
                            <a:srgbClr val="94A3B8"/>
                          </a:solidFill>
                        </a:defRPr>
                      </a:pPr>
                      <a:r>
                        <a:t>+18% Day-30 retention; builds intense daily habit loop</a:t>
                      </a:r>
                    </a:p>
                  </a:txBody>
                  <a:tcPr>
                    <a:solidFill>
                      <a:srgbClr val="18202F"/>
                    </a:solidFill>
                  </a:tcPr>
                </a:tc>
                <a:tc>
                  <a:txBody>
                    <a:bodyPr/>
                    <a:lstStyle/>
                    <a:p>
                      <a:pPr>
                        <a:defRPr sz="850">
                          <a:solidFill>
                            <a:srgbClr val="F43F5E"/>
                          </a:solidFill>
                        </a:defRPr>
                      </a:pPr>
                      <a:r>
                        <a:t>Emotional fatigue; user annoyance at aggressive guilt</a:t>
                      </a:r>
                    </a:p>
                  </a:txBody>
                  <a:tcPr>
                    <a:solidFill>
                      <a:srgbClr val="18202F"/>
                    </a:solidFill>
                  </a:tcPr>
                </a:tc>
              </a:tr>
              <a:tr h="877824">
                <a:tc>
                  <a:txBody>
                    <a:bodyPr/>
                    <a:lstStyle/>
                    <a:p>
                      <a:pPr>
                        <a:defRPr sz="850" b="1">
                          <a:solidFill>
                            <a:srgbClr val="2DD4BF"/>
                          </a:solidFill>
                        </a:defRPr>
                      </a:pPr>
                      <a:r>
                        <a:t>Apple Dynamic Island</a:t>
                      </a:r>
                    </a:p>
                  </a:txBody>
                  <a:tcPr>
                    <a:solidFill>
                      <a:srgbClr val="212C3F"/>
                    </a:solidFill>
                  </a:tcPr>
                </a:tc>
                <a:tc>
                  <a:txBody>
                    <a:bodyPr/>
                    <a:lstStyle/>
                    <a:p>
                      <a:pPr>
                        <a:defRPr sz="850">
                          <a:solidFill>
                            <a:srgbClr val="94A3B8"/>
                          </a:solidFill>
                        </a:defRPr>
                      </a:pPr>
                      <a:r>
                        <a:t>Morphing black pill superimposed on status bar</a:t>
                      </a:r>
                    </a:p>
                  </a:txBody>
                  <a:tcPr>
                    <a:solidFill>
                      <a:srgbClr val="212C3F"/>
                    </a:solidFill>
                  </a:tcPr>
                </a:tc>
                <a:tc>
                  <a:txBody>
                    <a:bodyPr/>
                    <a:lstStyle/>
                    <a:p>
                      <a:pPr>
                        <a:defRPr sz="850">
                          <a:solidFill>
                            <a:srgbClr val="94A3B8"/>
                          </a:solidFill>
                        </a:defRPr>
                      </a:pPr>
                      <a:r>
                        <a:t>Organic 'breathing' elasticity and fluid squash/stretch</a:t>
                      </a:r>
                    </a:p>
                  </a:txBody>
                  <a:tcPr>
                    <a:solidFill>
                      <a:srgbClr val="212C3F"/>
                    </a:solidFill>
                  </a:tcPr>
                </a:tc>
                <a:tc>
                  <a:txBody>
                    <a:bodyPr/>
                    <a:lstStyle/>
                    <a:p>
                      <a:pPr>
                        <a:defRPr sz="850">
                          <a:solidFill>
                            <a:srgbClr val="94A3B8"/>
                          </a:solidFill>
                        </a:defRPr>
                      </a:pPr>
                      <a:r>
                        <a:t>Glanceable background awareness with zero context switch</a:t>
                      </a:r>
                    </a:p>
                  </a:txBody>
                  <a:tcPr>
                    <a:solidFill>
                      <a:srgbClr val="212C3F"/>
                    </a:solidFill>
                  </a:tcPr>
                </a:tc>
                <a:tc>
                  <a:txBody>
                    <a:bodyPr/>
                    <a:lstStyle/>
                    <a:p>
                      <a:pPr>
                        <a:defRPr sz="850">
                          <a:solidFill>
                            <a:srgbClr val="F43F5E"/>
                          </a:solidFill>
                        </a:defRPr>
                      </a:pPr>
                      <a:r>
                        <a:t>Occlusion of top screen content; thumb reach strain</a:t>
                      </a:r>
                    </a:p>
                  </a:txBody>
                  <a:tcPr>
                    <a:solidFill>
                      <a:srgbClr val="212C3F"/>
                    </a:solidFill>
                  </a:tcPr>
                </a:tc>
              </a:tr>
              <a:tr h="877824">
                <a:tc>
                  <a:txBody>
                    <a:bodyPr/>
                    <a:lstStyle/>
                    <a:p>
                      <a:pPr>
                        <a:defRPr sz="850" b="1">
                          <a:solidFill>
                            <a:srgbClr val="2DD4BF"/>
                          </a:solidFill>
                        </a:defRPr>
                      </a:pPr>
                      <a:r>
                        <a:t>Apple VisionOS Personas</a:t>
                      </a:r>
                    </a:p>
                  </a:txBody>
                  <a:tcPr>
                    <a:solidFill>
                      <a:srgbClr val="18202F"/>
                    </a:solidFill>
                  </a:tcPr>
                </a:tc>
                <a:tc>
                  <a:txBody>
                    <a:bodyPr/>
                    <a:lstStyle/>
                    <a:p>
                      <a:pPr>
                        <a:defRPr sz="850">
                          <a:solidFill>
                            <a:srgbClr val="94A3B8"/>
                          </a:solidFill>
                        </a:defRPr>
                      </a:pPr>
                      <a:r>
                        <a:t>Volumetric 3D spatial mesh rendered in user's room</a:t>
                      </a:r>
                    </a:p>
                  </a:txBody>
                  <a:tcPr>
                    <a:solidFill>
                      <a:srgbClr val="18202F"/>
                    </a:solidFill>
                  </a:tcPr>
                </a:tc>
                <a:tc>
                  <a:txBody>
                    <a:bodyPr/>
                    <a:lstStyle/>
                    <a:p>
                      <a:pPr>
                        <a:defRPr sz="850">
                          <a:solidFill>
                            <a:srgbClr val="94A3B8"/>
                          </a:solidFill>
                        </a:defRPr>
                      </a:pPr>
                      <a:r>
                        <a:t>Synchronized eye gaze, mouth shape &amp; head tilts</a:t>
                      </a:r>
                    </a:p>
                  </a:txBody>
                  <a:tcPr>
                    <a:solidFill>
                      <a:srgbClr val="18202F"/>
                    </a:solidFill>
                  </a:tcPr>
                </a:tc>
                <a:tc>
                  <a:txBody>
                    <a:bodyPr/>
                    <a:lstStyle/>
                    <a:p>
                      <a:pPr>
                        <a:defRPr sz="850">
                          <a:solidFill>
                            <a:srgbClr val="94A3B8"/>
                          </a:solidFill>
                        </a:defRPr>
                      </a:pPr>
                      <a:r>
                        <a:t>Deep psychological co-presence in remote collaboration</a:t>
                      </a:r>
                    </a:p>
                  </a:txBody>
                  <a:tcPr>
                    <a:solidFill>
                      <a:srgbClr val="18202F"/>
                    </a:solidFill>
                  </a:tcPr>
                </a:tc>
                <a:tc>
                  <a:txBody>
                    <a:bodyPr/>
                    <a:lstStyle/>
                    <a:p>
                      <a:pPr>
                        <a:defRPr sz="850">
                          <a:solidFill>
                            <a:srgbClr val="F43F5E"/>
                          </a:solidFill>
                        </a:defRPr>
                      </a:pPr>
                      <a:r>
                        <a:t>Occasional uncanny eye tracking glitches; processing lag</a:t>
                      </a:r>
                    </a:p>
                  </a:txBody>
                  <a:tcPr>
                    <a:solidFill>
                      <a:srgbClr val="18202F"/>
                    </a:solidFill>
                  </a:tcPr>
                </a:tc>
              </a:tr>
              <a:tr h="877824">
                <a:tc>
                  <a:txBody>
                    <a:bodyPr/>
                    <a:lstStyle/>
                    <a:p>
                      <a:pPr>
                        <a:defRPr sz="850" b="1">
                          <a:solidFill>
                            <a:srgbClr val="2DD4BF"/>
                          </a:solidFill>
                        </a:defRPr>
                      </a:pPr>
                      <a:r>
                        <a:t>Automotive AR HUD (Mercedes / Tesla)</a:t>
                      </a:r>
                    </a:p>
                  </a:txBody>
                  <a:tcPr>
                    <a:solidFill>
                      <a:srgbClr val="212C3F"/>
                    </a:solidFill>
                  </a:tcPr>
                </a:tc>
                <a:tc>
                  <a:txBody>
                    <a:bodyPr/>
                    <a:lstStyle/>
                    <a:p>
                      <a:pPr>
                        <a:defRPr sz="850">
                          <a:solidFill>
                            <a:srgbClr val="94A3B8"/>
                          </a:solidFill>
                        </a:defRPr>
                      </a:pPr>
                      <a:r>
                        <a:t>Windshield optical projection directly over roadway</a:t>
                      </a:r>
                    </a:p>
                  </a:txBody>
                  <a:tcPr>
                    <a:solidFill>
                      <a:srgbClr val="212C3F"/>
                    </a:solidFill>
                  </a:tcPr>
                </a:tc>
                <a:tc>
                  <a:txBody>
                    <a:bodyPr/>
                    <a:lstStyle/>
                    <a:p>
                      <a:pPr>
                        <a:defRPr sz="850">
                          <a:solidFill>
                            <a:srgbClr val="94A3B8"/>
                          </a:solidFill>
                        </a:defRPr>
                      </a:pPr>
                      <a:r>
                        <a:t>Pedestrian stick-figure avatars with gaze vectors</a:t>
                      </a:r>
                    </a:p>
                  </a:txBody>
                  <a:tcPr>
                    <a:solidFill>
                      <a:srgbClr val="212C3F"/>
                    </a:solidFill>
                  </a:tcPr>
                </a:tc>
                <a:tc>
                  <a:txBody>
                    <a:bodyPr/>
                    <a:lstStyle/>
                    <a:p>
                      <a:pPr>
                        <a:defRPr sz="850">
                          <a:solidFill>
                            <a:srgbClr val="94A3B8"/>
                          </a:solidFill>
                        </a:defRPr>
                      </a:pPr>
                      <a:r>
                        <a:t>Reduces driver reaction time by 280ms during night driving</a:t>
                      </a:r>
                    </a:p>
                  </a:txBody>
                  <a:tcPr>
                    <a:solidFill>
                      <a:srgbClr val="212C3F"/>
                    </a:solidFill>
                  </a:tcPr>
                </a:tc>
                <a:tc>
                  <a:txBody>
                    <a:bodyPr/>
                    <a:lstStyle/>
                    <a:p>
                      <a:pPr>
                        <a:defRPr sz="850">
                          <a:solidFill>
                            <a:srgbClr val="F43F5E"/>
                          </a:solidFill>
                        </a:defRPr>
                      </a:pPr>
                      <a:r>
                        <a:t>Cognitive visual clutter; driver target fixation risk</a:t>
                      </a:r>
                    </a:p>
                  </a:txBody>
                  <a:tcPr>
                    <a:solidFill>
                      <a:srgbClr val="212C3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04 • ETHICAL DESIGN</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The Dark Side: Deceptive Empathy &amp; Sensory Clutter</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When emotional anthropomorphism turns manipulative and visual layering breaks accessibility</a:t>
            </a:r>
          </a:p>
        </p:txBody>
      </p:sp>
      <p:sp>
        <p:nvSpPr>
          <p:cNvPr id="6" name="Rounded Rectangle 5"/>
          <p:cNvSpPr/>
          <p:nvPr/>
        </p:nvSpPr>
        <p:spPr>
          <a:xfrm>
            <a:off x="731520" y="1645920"/>
            <a:ext cx="5212080" cy="210312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663440" cy="1737360"/>
          </a:xfrm>
          <a:prstGeom prst="rect">
            <a:avLst/>
          </a:prstGeom>
          <a:noFill/>
        </p:spPr>
        <p:txBody>
          <a:bodyPr wrap="square" lIns="0" tIns="0" rIns="0" bIns="0">
            <a:spAutoFit/>
          </a:bodyPr>
          <a:lstStyle/>
          <a:p>
            <a:pPr>
              <a:defRPr sz="1050" b="1">
                <a:solidFill>
                  <a:srgbClr val="F43F5E"/>
                </a:solidFill>
              </a:defRPr>
            </a:pPr>
            <a:r>
              <a:t>DARK PATTERN 01: DECEPTIVE EMPATHY</a:t>
            </a:r>
          </a:p>
          <a:p>
            <a:pPr>
              <a:defRPr sz="1200" b="1">
                <a:solidFill>
                  <a:srgbClr val="F8FAFC"/>
                </a:solidFill>
              </a:defRPr>
            </a:pPr>
            <a:r>
              <a:t>Weaponizing Guilt (Confirmshaming)</a:t>
            </a:r>
          </a:p>
          <a:p>
            <a:pPr>
              <a:defRPr sz="850">
                <a:solidFill>
                  <a:srgbClr val="94A3B8"/>
                </a:solidFill>
              </a:defRPr>
            </a:pPr>
            <a:r>
              <a:t>• What is it?: Using cute anthropomorphic mascots crying or looking heartbroken when a user tries to cancel a subscription or delete an account.</a:t>
            </a:r>
          </a:p>
          <a:p>
            <a:pPr>
              <a:defRPr sz="850">
                <a:solidFill>
                  <a:srgbClr val="94A3B8"/>
                </a:solidFill>
              </a:defRPr>
            </a:pPr>
            <a:r>
              <a:t>• Example: 'Are you really going to make Duo cry?' or pet apps showing shivering animals to prevent cancellation.</a:t>
            </a:r>
          </a:p>
          <a:p>
            <a:pPr>
              <a:defRPr sz="850">
                <a:solidFill>
                  <a:srgbClr val="94A3B8"/>
                </a:solidFill>
              </a:defRPr>
            </a:pPr>
            <a:r>
              <a:t>• The Ethical Breach: Coercing user decisions through artificial emotional distress rather than functional value.</a:t>
            </a:r>
          </a:p>
        </p:txBody>
      </p:sp>
      <p:sp>
        <p:nvSpPr>
          <p:cNvPr id="8" name="Rounded Rectangle 7"/>
          <p:cNvSpPr/>
          <p:nvPr/>
        </p:nvSpPr>
        <p:spPr>
          <a:xfrm>
            <a:off x="6217920" y="1645920"/>
            <a:ext cx="5212080" cy="210312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28800"/>
            <a:ext cx="4663440" cy="1737360"/>
          </a:xfrm>
          <a:prstGeom prst="rect">
            <a:avLst/>
          </a:prstGeom>
          <a:noFill/>
        </p:spPr>
        <p:txBody>
          <a:bodyPr wrap="square" lIns="0" tIns="0" rIns="0" bIns="0">
            <a:spAutoFit/>
          </a:bodyPr>
          <a:lstStyle/>
          <a:p>
            <a:pPr>
              <a:defRPr sz="1050" b="1">
                <a:solidFill>
                  <a:srgbClr val="F59E0B"/>
                </a:solidFill>
              </a:defRPr>
            </a:pPr>
            <a:r>
              <a:t>DARK PATTERN 02: OVER-SUPERIMPOSITION</a:t>
            </a:r>
          </a:p>
          <a:p>
            <a:pPr>
              <a:defRPr sz="1200" b="1">
                <a:solidFill>
                  <a:srgbClr val="F8FAFC"/>
                </a:solidFill>
              </a:defRPr>
            </a:pPr>
            <a:r>
              <a:t>The Layer Cake &amp; Visual Hostage</a:t>
            </a:r>
          </a:p>
          <a:p>
            <a:pPr>
              <a:defRPr sz="850">
                <a:solidFill>
                  <a:srgbClr val="94A3B8"/>
                </a:solidFill>
              </a:defRPr>
            </a:pPr>
            <a:r>
              <a:t>• What is it?: Stacking multiple translucent modals, persistent banners, chat bubbles, and consent overlays until the base content is completely obscured.</a:t>
            </a:r>
          </a:p>
          <a:p>
            <a:pPr>
              <a:defRPr sz="850">
                <a:solidFill>
                  <a:srgbClr val="94A3B8"/>
                </a:solidFill>
              </a:defRPr>
            </a:pPr>
            <a:r>
              <a:t>• Accessibility Violation: Fails WCAG 2.1 contrast standards (4.5:1 ratio) on low-end screens or under direct sunlight.</a:t>
            </a:r>
          </a:p>
          <a:p>
            <a:pPr>
              <a:defRPr sz="850">
                <a:solidFill>
                  <a:srgbClr val="94A3B8"/>
                </a:solidFill>
              </a:defRPr>
            </a:pPr>
            <a:r>
              <a:t>• Cognitive Consequence: Induces sensory overload, micro-frustration, and loss of mental spatial mapping.</a:t>
            </a:r>
          </a:p>
        </p:txBody>
      </p:sp>
      <p:sp>
        <p:nvSpPr>
          <p:cNvPr id="10" name="Rounded Rectangle 9"/>
          <p:cNvSpPr/>
          <p:nvPr/>
        </p:nvSpPr>
        <p:spPr>
          <a:xfrm>
            <a:off x="731520" y="4114800"/>
            <a:ext cx="5212080" cy="210312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297680"/>
            <a:ext cx="4663440" cy="1737360"/>
          </a:xfrm>
          <a:prstGeom prst="rect">
            <a:avLst/>
          </a:prstGeom>
          <a:noFill/>
        </p:spPr>
        <p:txBody>
          <a:bodyPr wrap="square" lIns="0" tIns="0" rIns="0" bIns="0">
            <a:spAutoFit/>
          </a:bodyPr>
          <a:lstStyle/>
          <a:p>
            <a:pPr>
              <a:defRPr sz="1050" b="1">
                <a:solidFill>
                  <a:srgbClr val="A855F7"/>
                </a:solidFill>
              </a:defRPr>
            </a:pPr>
            <a:r>
              <a:t>DARK PATTERN 03: FALSE SENTIENCE</a:t>
            </a:r>
          </a:p>
          <a:p>
            <a:pPr>
              <a:defRPr sz="1200" b="1">
                <a:solidFill>
                  <a:srgbClr val="F8FAFC"/>
                </a:solidFill>
              </a:defRPr>
            </a:pPr>
            <a:r>
              <a:t>Misleading Trust in Generative AI</a:t>
            </a:r>
          </a:p>
          <a:p>
            <a:pPr>
              <a:defRPr sz="850">
                <a:solidFill>
                  <a:srgbClr val="94A3B8"/>
                </a:solidFill>
              </a:defRPr>
            </a:pPr>
            <a:r>
              <a:t>• What is it?: Designing conversational bots that claim to 'feel sad' or 'remember your friendship' when they are simply statistical LLM token predictors.</a:t>
            </a:r>
          </a:p>
          <a:p>
            <a:pPr>
              <a:defRPr sz="850">
                <a:solidFill>
                  <a:srgbClr val="94A3B8"/>
                </a:solidFill>
              </a:defRPr>
            </a:pPr>
            <a:r>
              <a:t>• Vulnerable Users: Elderly, children, and lonely users form parasocial dependencies and reveal sensitive private data.</a:t>
            </a:r>
          </a:p>
          <a:p>
            <a:pPr>
              <a:defRPr sz="850">
                <a:solidFill>
                  <a:srgbClr val="94A3B8"/>
                </a:solidFill>
              </a:defRPr>
            </a:pPr>
            <a:r>
              <a:t>• Design Mandate: Honest AI disclosure—always convey system limitations clearly.</a:t>
            </a:r>
          </a:p>
        </p:txBody>
      </p:sp>
      <p:sp>
        <p:nvSpPr>
          <p:cNvPr id="12" name="Rounded Rectangle 11"/>
          <p:cNvSpPr/>
          <p:nvPr/>
        </p:nvSpPr>
        <p:spPr>
          <a:xfrm>
            <a:off x="6217920" y="4114800"/>
            <a:ext cx="5212080" cy="210312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297680"/>
            <a:ext cx="4663440" cy="1737360"/>
          </a:xfrm>
          <a:prstGeom prst="rect">
            <a:avLst/>
          </a:prstGeom>
          <a:noFill/>
        </p:spPr>
        <p:txBody>
          <a:bodyPr wrap="square" lIns="0" tIns="0" rIns="0" bIns="0">
            <a:spAutoFit/>
          </a:bodyPr>
          <a:lstStyle/>
          <a:p>
            <a:pPr>
              <a:defRPr sz="1050" b="1">
                <a:solidFill>
                  <a:srgbClr val="10B981"/>
                </a:solidFill>
              </a:defRPr>
            </a:pPr>
            <a:r>
              <a:t>THE B.DES ETHICAL MANIFESTO</a:t>
            </a:r>
          </a:p>
          <a:p>
            <a:pPr>
              <a:defRPr sz="1200" b="1">
                <a:solidFill>
                  <a:srgbClr val="F8FAFC"/>
                </a:solidFill>
              </a:defRPr>
            </a:pPr>
            <a:r>
              <a:t>Our Studio Guiding Principle</a:t>
            </a:r>
          </a:p>
          <a:p>
            <a:pPr>
              <a:defRPr sz="850">
                <a:solidFill>
                  <a:srgbClr val="94A3B8"/>
                </a:solidFill>
              </a:defRPr>
            </a:pPr>
            <a:r>
              <a:t>• 'Humanize to assist, never to manipulate.'</a:t>
            </a:r>
          </a:p>
          <a:p>
            <a:pPr>
              <a:defRPr sz="850">
                <a:solidFill>
                  <a:srgbClr val="94A3B8"/>
                </a:solidFill>
              </a:defRPr>
            </a:pPr>
            <a:r>
              <a:t>• 'Layer to clarify, never to obscure.'</a:t>
            </a:r>
          </a:p>
          <a:p>
            <a:pPr>
              <a:defRPr sz="850">
                <a:solidFill>
                  <a:srgbClr val="94A3B8"/>
                </a:solidFill>
              </a:defRPr>
            </a:pPr>
            <a:r>
              <a:t>• Empathy must be a conduit for user empowerment, not a mechanism for dark-pattern entrapment.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MODULE 04 • PRACTICAL TOOLKIT</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My B.Des Studio Framework: 5 Golden Heuristics</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A ready-to-use checklist for designing spatial layers and humanized micro-interactions</a:t>
            </a:r>
          </a:p>
        </p:txBody>
      </p:sp>
      <p:sp>
        <p:nvSpPr>
          <p:cNvPr id="6" name="Rounded Rectangle 5"/>
          <p:cNvSpPr/>
          <p:nvPr/>
        </p:nvSpPr>
        <p:spPr>
          <a:xfrm>
            <a:off x="731520" y="1645920"/>
            <a:ext cx="10698480" cy="77724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810512"/>
            <a:ext cx="1097280" cy="438912"/>
          </a:xfrm>
          <a:prstGeom prst="roundRect">
            <a:avLst/>
          </a:prstGeom>
          <a:solidFill>
            <a:srgbClr val="212C3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RULE 01</a:t>
            </a:r>
          </a:p>
        </p:txBody>
      </p:sp>
      <p:sp>
        <p:nvSpPr>
          <p:cNvPr id="8" name="TextBox 7"/>
          <p:cNvSpPr txBox="1"/>
          <p:nvPr/>
        </p:nvSpPr>
        <p:spPr>
          <a:xfrm>
            <a:off x="2194560" y="1755648"/>
            <a:ext cx="8961120" cy="594360"/>
          </a:xfrm>
          <a:prstGeom prst="rect">
            <a:avLst/>
          </a:prstGeom>
          <a:noFill/>
        </p:spPr>
        <p:txBody>
          <a:bodyPr wrap="square" lIns="0" tIns="0" rIns="0" bIns="0">
            <a:spAutoFit/>
          </a:bodyPr>
          <a:lstStyle/>
          <a:p>
            <a:pPr>
              <a:defRPr sz="1100" b="1">
                <a:solidFill>
                  <a:srgbClr val="F8FAFC"/>
                </a:solidFill>
              </a:defRPr>
            </a:pPr>
            <a:r>
              <a:t>Establish Strict Z-Axis Roles — </a:t>
            </a:r>
            <a:r>
              <a:rPr b="0">
                <a:solidFill>
                  <a:srgbClr val="94A3B8"/>
                </a:solidFill>
              </a:rPr>
              <a:t>Every superimposed element must justify its elevation. Layer 0 = Surface, Layer 1 = Content, Layer 2 = Floating triggers, Layer 3 = Modals. Never stack arbitrarily.</a:t>
            </a:r>
          </a:p>
        </p:txBody>
      </p:sp>
      <p:sp>
        <p:nvSpPr>
          <p:cNvPr id="9" name="Rounded Rectangle 8"/>
          <p:cNvSpPr/>
          <p:nvPr/>
        </p:nvSpPr>
        <p:spPr>
          <a:xfrm>
            <a:off x="731520" y="2560320"/>
            <a:ext cx="10698480" cy="77724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2724912"/>
            <a:ext cx="1097280" cy="438912"/>
          </a:xfrm>
          <a:prstGeom prst="roundRect">
            <a:avLst/>
          </a:prstGeom>
          <a:solidFill>
            <a:srgbClr val="212C3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855F7"/>
                </a:solidFill>
              </a:defRPr>
            </a:pPr>
            <a:r>
              <a:t>RULE 02</a:t>
            </a:r>
          </a:p>
        </p:txBody>
      </p:sp>
      <p:sp>
        <p:nvSpPr>
          <p:cNvPr id="11" name="TextBox 10"/>
          <p:cNvSpPr txBox="1"/>
          <p:nvPr/>
        </p:nvSpPr>
        <p:spPr>
          <a:xfrm>
            <a:off x="2194560" y="2670048"/>
            <a:ext cx="8961120" cy="594360"/>
          </a:xfrm>
          <a:prstGeom prst="rect">
            <a:avLst/>
          </a:prstGeom>
          <a:noFill/>
        </p:spPr>
        <p:txBody>
          <a:bodyPr wrap="square" lIns="0" tIns="0" rIns="0" bIns="0">
            <a:spAutoFit/>
          </a:bodyPr>
          <a:lstStyle/>
          <a:p>
            <a:pPr>
              <a:defRPr sz="1100" b="1">
                <a:solidFill>
                  <a:srgbClr val="F8FAFC"/>
                </a:solidFill>
              </a:defRPr>
            </a:pPr>
            <a:r>
              <a:t>Respect the Uncanny Boundary — </a:t>
            </a:r>
            <a:r>
              <a:rPr b="0">
                <a:solidFill>
                  <a:srgbClr val="94A3B8"/>
                </a:solidFill>
              </a:rPr>
              <a:t>Always choose stylized geometric abstraction over pseudorealistic 3D human renders. An expressive 2D mascot is infinitely more empathetic than a creepy synthetic human.</a:t>
            </a:r>
          </a:p>
        </p:txBody>
      </p:sp>
      <p:sp>
        <p:nvSpPr>
          <p:cNvPr id="12" name="Rounded Rectangle 11"/>
          <p:cNvSpPr/>
          <p:nvPr/>
        </p:nvSpPr>
        <p:spPr>
          <a:xfrm>
            <a:off x="731520" y="3474720"/>
            <a:ext cx="10698480" cy="77724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3639312"/>
            <a:ext cx="1097280" cy="438912"/>
          </a:xfrm>
          <a:prstGeom prst="roundRect">
            <a:avLst/>
          </a:prstGeom>
          <a:solidFill>
            <a:srgbClr val="212C3F"/>
          </a:solidFill>
          <a:ln w="1270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DD4BF"/>
                </a:solidFill>
              </a:defRPr>
            </a:pPr>
            <a:r>
              <a:t>RULE 03</a:t>
            </a:r>
          </a:p>
        </p:txBody>
      </p:sp>
      <p:sp>
        <p:nvSpPr>
          <p:cNvPr id="14" name="TextBox 13"/>
          <p:cNvSpPr txBox="1"/>
          <p:nvPr/>
        </p:nvSpPr>
        <p:spPr>
          <a:xfrm>
            <a:off x="2194560" y="3584448"/>
            <a:ext cx="8961120" cy="594360"/>
          </a:xfrm>
          <a:prstGeom prst="rect">
            <a:avLst/>
          </a:prstGeom>
          <a:noFill/>
        </p:spPr>
        <p:txBody>
          <a:bodyPr wrap="square" lIns="0" tIns="0" rIns="0" bIns="0">
            <a:spAutoFit/>
          </a:bodyPr>
          <a:lstStyle/>
          <a:p>
            <a:pPr>
              <a:defRPr sz="1100" b="1">
                <a:solidFill>
                  <a:srgbClr val="F8FAFC"/>
                </a:solidFill>
              </a:defRPr>
            </a:pPr>
            <a:r>
              <a:t>Anchor Motion in Natural Physics — </a:t>
            </a:r>
            <a:r>
              <a:rPr b="0">
                <a:solidFill>
                  <a:srgbClr val="94A3B8"/>
                </a:solidFill>
              </a:rPr>
              <a:t>Use cubic-bezier spring curves (damping ratio 0.7) and organic mass rather than linear motion. Let buttons stretch and bounce with biological playfulness.</a:t>
            </a:r>
          </a:p>
        </p:txBody>
      </p:sp>
      <p:sp>
        <p:nvSpPr>
          <p:cNvPr id="15" name="Rounded Rectangle 14"/>
          <p:cNvSpPr/>
          <p:nvPr/>
        </p:nvSpPr>
        <p:spPr>
          <a:xfrm>
            <a:off x="731520" y="4389120"/>
            <a:ext cx="10698480" cy="77724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4553712"/>
            <a:ext cx="1097280" cy="438912"/>
          </a:xfrm>
          <a:prstGeom prst="roundRect">
            <a:avLst/>
          </a:prstGeom>
          <a:solidFill>
            <a:srgbClr val="212C3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defRPr>
            </a:pPr>
            <a:r>
              <a:t>RULE 04</a:t>
            </a:r>
          </a:p>
        </p:txBody>
      </p:sp>
      <p:sp>
        <p:nvSpPr>
          <p:cNvPr id="17" name="TextBox 16"/>
          <p:cNvSpPr txBox="1"/>
          <p:nvPr/>
        </p:nvSpPr>
        <p:spPr>
          <a:xfrm>
            <a:off x="2194560" y="4498848"/>
            <a:ext cx="8961120" cy="594360"/>
          </a:xfrm>
          <a:prstGeom prst="rect">
            <a:avLst/>
          </a:prstGeom>
          <a:noFill/>
        </p:spPr>
        <p:txBody>
          <a:bodyPr wrap="square" lIns="0" tIns="0" rIns="0" bIns="0">
            <a:spAutoFit/>
          </a:bodyPr>
          <a:lstStyle/>
          <a:p>
            <a:pPr>
              <a:defRPr sz="1100" b="1">
                <a:solidFill>
                  <a:srgbClr val="F8FAFC"/>
                </a:solidFill>
              </a:defRPr>
            </a:pPr>
            <a:r>
              <a:t>Enforce Strict WCAG Accessibility — </a:t>
            </a:r>
            <a:r>
              <a:rPr b="0">
                <a:solidFill>
                  <a:srgbClr val="94A3B8"/>
                </a:solidFill>
              </a:rPr>
              <a:t>Ensure any superimposed text or icon maintains at least 4.5:1 contrast against blurred backdrops. Always provide non-motion fallbacks for vestibular disorders.</a:t>
            </a:r>
          </a:p>
        </p:txBody>
      </p:sp>
      <p:sp>
        <p:nvSpPr>
          <p:cNvPr id="18" name="Rounded Rectangle 17"/>
          <p:cNvSpPr/>
          <p:nvPr/>
        </p:nvSpPr>
        <p:spPr>
          <a:xfrm>
            <a:off x="731520" y="5303520"/>
            <a:ext cx="10698480" cy="77724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5468112"/>
            <a:ext cx="1097280" cy="438912"/>
          </a:xfrm>
          <a:prstGeom prst="roundRect">
            <a:avLst/>
          </a:prstGeom>
          <a:solidFill>
            <a:srgbClr val="212C3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0B981"/>
                </a:solidFill>
              </a:defRPr>
            </a:pPr>
            <a:r>
              <a:t>RULE 05</a:t>
            </a:r>
          </a:p>
        </p:txBody>
      </p:sp>
      <p:sp>
        <p:nvSpPr>
          <p:cNvPr id="20" name="TextBox 19"/>
          <p:cNvSpPr txBox="1"/>
          <p:nvPr/>
        </p:nvSpPr>
        <p:spPr>
          <a:xfrm>
            <a:off x="2194560" y="5413248"/>
            <a:ext cx="8961120" cy="594360"/>
          </a:xfrm>
          <a:prstGeom prst="rect">
            <a:avLst/>
          </a:prstGeom>
          <a:noFill/>
        </p:spPr>
        <p:txBody>
          <a:bodyPr wrap="square" lIns="0" tIns="0" rIns="0" bIns="0">
            <a:spAutoFit/>
          </a:bodyPr>
          <a:lstStyle/>
          <a:p>
            <a:pPr>
              <a:defRPr sz="1100" b="1">
                <a:solidFill>
                  <a:srgbClr val="F8FAFC"/>
                </a:solidFill>
              </a:defRPr>
            </a:pPr>
            <a:r>
              <a:t>Preserve Total User Autonomy — </a:t>
            </a:r>
            <a:r>
              <a:rPr b="0">
                <a:solidFill>
                  <a:srgbClr val="94A3B8"/>
                </a:solidFill>
              </a:rPr>
              <a:t>Never use mascot tears or simulated grief to guilt-trip users during cancellation or settings flows. Emotional design must serve clarity, never manipulation.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515600" cy="292608"/>
          </a:xfrm>
          <a:prstGeom prst="rect">
            <a:avLst/>
          </a:prstGeom>
          <a:noFill/>
        </p:spPr>
        <p:txBody>
          <a:bodyPr wrap="square" lIns="0" tIns="0" rIns="0" bIns="0">
            <a:spAutoFit/>
          </a:bodyPr>
          <a:lstStyle/>
          <a:p>
            <a:pPr>
              <a:defRPr sz="950" b="1">
                <a:solidFill>
                  <a:srgbClr val="38BDF8"/>
                </a:solidFill>
                <a:latin typeface="Arial"/>
              </a:defRPr>
            </a:pPr>
            <a:r>
              <a:t>CONCLUSION &amp; BIBLIOGRAPHY</a:t>
            </a:r>
          </a:p>
        </p:txBody>
      </p:sp>
      <p:sp>
        <p:nvSpPr>
          <p:cNvPr id="4" name="TextBox 3"/>
          <p:cNvSpPr txBox="1"/>
          <p:nvPr/>
        </p:nvSpPr>
        <p:spPr>
          <a:xfrm>
            <a:off x="731520" y="676656"/>
            <a:ext cx="10515600" cy="502920"/>
          </a:xfrm>
          <a:prstGeom prst="rect">
            <a:avLst/>
          </a:prstGeom>
          <a:noFill/>
        </p:spPr>
        <p:txBody>
          <a:bodyPr wrap="square" lIns="0" tIns="0" rIns="0" bIns="0">
            <a:spAutoFit/>
          </a:bodyPr>
          <a:lstStyle/>
          <a:p>
            <a:pPr>
              <a:defRPr sz="2000" b="1">
                <a:solidFill>
                  <a:srgbClr val="F8FAFC"/>
                </a:solidFill>
                <a:latin typeface="Arial"/>
              </a:defRPr>
            </a:pPr>
            <a:r>
              <a:t>Harmonizing Space and Soul in Design</a:t>
            </a:r>
          </a:p>
        </p:txBody>
      </p:sp>
      <p:sp>
        <p:nvSpPr>
          <p:cNvPr id="5" name="TextBox 4"/>
          <p:cNvSpPr txBox="1"/>
          <p:nvPr/>
        </p:nvSpPr>
        <p:spPr>
          <a:xfrm>
            <a:off x="731520" y="1188720"/>
            <a:ext cx="10515600" cy="320040"/>
          </a:xfrm>
          <a:prstGeom prst="rect">
            <a:avLst/>
          </a:prstGeom>
          <a:noFill/>
        </p:spPr>
        <p:txBody>
          <a:bodyPr wrap="square" lIns="0" tIns="0" rIns="0" bIns="0">
            <a:spAutoFit/>
          </a:bodyPr>
          <a:lstStyle/>
          <a:p>
            <a:pPr>
              <a:defRPr sz="1100">
                <a:solidFill>
                  <a:srgbClr val="94A3B8"/>
                </a:solidFill>
                <a:latin typeface="Arial"/>
              </a:defRPr>
            </a:pPr>
            <a:r>
              <a:t>Summary thesis, academic references, and jury discussion</a:t>
            </a:r>
          </a:p>
        </p:txBody>
      </p:sp>
      <p:sp>
        <p:nvSpPr>
          <p:cNvPr id="6" name="Rounded Rectangle 5"/>
          <p:cNvSpPr/>
          <p:nvPr/>
        </p:nvSpPr>
        <p:spPr>
          <a:xfrm>
            <a:off x="731520" y="1645920"/>
            <a:ext cx="5212080" cy="4480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663440" cy="3931920"/>
          </a:xfrm>
          <a:prstGeom prst="rect">
            <a:avLst/>
          </a:prstGeom>
          <a:noFill/>
        </p:spPr>
        <p:txBody>
          <a:bodyPr wrap="square" lIns="0" tIns="0" rIns="0" bIns="0">
            <a:spAutoFit/>
          </a:bodyPr>
          <a:lstStyle/>
          <a:p>
            <a:pPr>
              <a:defRPr sz="1100" b="1">
                <a:solidFill>
                  <a:srgbClr val="38BDF8"/>
                </a:solidFill>
              </a:defRPr>
            </a:pPr>
            <a:r>
              <a:t>CORE THESIS SUMMARY</a:t>
            </a:r>
          </a:p>
          <a:p>
            <a:br/>
            <a:pPr>
              <a:defRPr sz="1300" b="1">
                <a:solidFill>
                  <a:srgbClr val="2DD4BF"/>
                </a:solidFill>
              </a:defRPr>
            </a:pPr>
            <a:r>
              <a:t>'Great digital product design lives in the deliberate harmony of Space and Soul.'</a:t>
            </a:r>
          </a:p>
          <a:p>
            <a:br/>
            <a:pPr>
              <a:defRPr sz="950" b="1">
                <a:solidFill>
                  <a:srgbClr val="F8FAFC"/>
                </a:solidFill>
              </a:defRPr>
            </a:pPr>
            <a:r>
              <a:t>• Superimposition governs SPACE: </a:t>
            </a:r>
            <a:r>
              <a:rPr b="0">
                <a:solidFill>
                  <a:srgbClr val="94A3B8"/>
                </a:solidFill>
              </a:rPr>
              <a:t>It structures visual priority, preserves context along the z-axis, and eliminates cognitive disjunction in 2D and 3D viewports.</a:t>
            </a:r>
          </a:p>
          <a:p>
            <a:br/>
            <a:pPr>
              <a:defRPr sz="950" b="1">
                <a:solidFill>
                  <a:srgbClr val="F8FAFC"/>
                </a:solidFill>
              </a:defRPr>
            </a:pPr>
            <a:r>
              <a:t>• Anthropomorphism governs SOUL: </a:t>
            </a:r>
            <a:r>
              <a:rPr b="0">
                <a:solidFill>
                  <a:srgbClr val="94A3B8"/>
                </a:solidFill>
              </a:rPr>
              <a:t>It sparks emotional resonance, builds intuitive mental models via social cues, and turns cold computational tools into trusted partners.</a:t>
            </a:r>
          </a:p>
          <a:p>
            <a:br/>
            <a:pPr>
              <a:defRPr sz="950" b="1">
                <a:solidFill>
                  <a:srgbClr val="F8FAFC"/>
                </a:solidFill>
              </a:defRPr>
            </a:pPr>
            <a:r>
              <a:t>• The Ultimate Goal: </a:t>
            </a:r>
            <a:r>
              <a:rPr b="0">
                <a:solidFill>
                  <a:srgbClr val="94A3B8"/>
                </a:solidFill>
              </a:rPr>
              <a:t>To craft interfaces that are spatially transparent, emotionally dignified, and ergonomically effortless.</a:t>
            </a:r>
          </a:p>
        </p:txBody>
      </p:sp>
      <p:sp>
        <p:nvSpPr>
          <p:cNvPr id="8" name="Rounded Rectangle 7"/>
          <p:cNvSpPr/>
          <p:nvPr/>
        </p:nvSpPr>
        <p:spPr>
          <a:xfrm>
            <a:off x="6217920" y="1645920"/>
            <a:ext cx="5212080" cy="4480560"/>
          </a:xfrm>
          <a:prstGeom prst="roundRect">
            <a:avLst/>
          </a:prstGeom>
          <a:solidFill>
            <a:srgbClr val="1820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20240"/>
            <a:ext cx="4663440" cy="3931920"/>
          </a:xfrm>
          <a:prstGeom prst="rect">
            <a:avLst/>
          </a:prstGeom>
          <a:noFill/>
        </p:spPr>
        <p:txBody>
          <a:bodyPr wrap="square" lIns="0" tIns="0" rIns="0" bIns="0">
            <a:spAutoFit/>
          </a:bodyPr>
          <a:lstStyle/>
          <a:p>
            <a:pPr>
              <a:defRPr sz="1100" b="1">
                <a:solidFill>
                  <a:srgbClr val="F59E0B"/>
                </a:solidFill>
              </a:defRPr>
            </a:pPr>
            <a:r>
              <a:t>ACADEMIC &amp; INDUSTRY REFERENCES</a:t>
            </a:r>
          </a:p>
          <a:p>
            <a:pPr>
              <a:defRPr sz="850">
                <a:solidFill>
                  <a:srgbClr val="94A3B8"/>
                </a:solidFill>
              </a:defRPr>
            </a:pPr>
            <a:r>
              <a:t>1. Norman, Donald A. (2004). Emotional Design: Why We Love (or Hate) Everyday Things. Basic Books.</a:t>
            </a:r>
          </a:p>
          <a:p>
            <a:pPr>
              <a:defRPr sz="850">
                <a:solidFill>
                  <a:srgbClr val="94A3B8"/>
                </a:solidFill>
              </a:defRPr>
            </a:pPr>
            <a:r>
              <a:t>2. Mori, Masahiro (1970). The Uncanny Valley. Energy, 7(4), pp. 33–35.</a:t>
            </a:r>
          </a:p>
          <a:p>
            <a:pPr>
              <a:defRPr sz="850">
                <a:solidFill>
                  <a:srgbClr val="94A3B8"/>
                </a:solidFill>
              </a:defRPr>
            </a:pPr>
            <a:r>
              <a:t>3. Reeves, Byron &amp; Nass, Clifford (1996). The Media Equation: How People Treat Computers Like Real People. Cambridge University Press.</a:t>
            </a:r>
          </a:p>
          <a:p>
            <a:pPr>
              <a:defRPr sz="850">
                <a:solidFill>
                  <a:srgbClr val="94A3B8"/>
                </a:solidFill>
              </a:defRPr>
            </a:pPr>
            <a:r>
              <a:t>4. Rubin, Edgar (1915). Synsoplevede Figurer (Figure-Ground Perception). Gyldendalske.</a:t>
            </a:r>
          </a:p>
          <a:p>
            <a:pPr>
              <a:defRPr sz="850">
                <a:solidFill>
                  <a:srgbClr val="94A3B8"/>
                </a:solidFill>
              </a:defRPr>
            </a:pPr>
            <a:r>
              <a:t>5. Nielsen Norman Group (NN/g). (2024). Emotional Ergonomics &amp; Spatial Overlay Guidelines in XR.</a:t>
            </a:r>
          </a:p>
          <a:p>
            <a:br/>
            <a:pPr>
              <a:defRPr sz="1000" b="1">
                <a:solidFill>
                  <a:srgbClr val="A855F7"/>
                </a:solidFill>
              </a:defRPr>
            </a:pPr>
            <a:r>
              <a:t>STUDENT PRESENTER:</a:t>
            </a:r>
          </a:p>
          <a:p>
            <a:pPr>
              <a:defRPr sz="900" b="1">
                <a:solidFill>
                  <a:srgbClr val="F8FAFC"/>
                </a:solidFill>
              </a:defRPr>
            </a:pPr>
            <a:r>
              <a:t>Bhavya Anand • Roll No: 2501730046</a:t>
            </a:r>
            <a:br/>
            <a:r>
              <a:t>B.Des (UI &amp; UX Design) • Semester III • K.R. Mangalam University</a:t>
            </a:r>
            <a:br/>
            <a:r>
              <a:t>Email: bhavya.bpr@gmail.com</a:t>
            </a:r>
            <a:br/>
            <a:br/>
            <a:r>
              <a:t>THANK YOU! HAPPY TO TAKE QUESTIONS FROM THE JURY.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